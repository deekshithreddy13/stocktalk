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043526187642ab" /><Relationship Type="http://schemas.openxmlformats.org/officeDocument/2006/relationships/extended-properties" Target="/docProps/app.xml" Id="Rfba7785fd7274e71" /><Relationship Type="http://schemas.openxmlformats.org/officeDocument/2006/relationships/officeDocument" Target="/ppt/presentation.xml" Id="R83be355b612d4133" /></Relationships>
</file>

<file path=ppt/presentation.xml><?xml version="1.0" encoding="utf-8"?>
<p:presentation xmlns:p="http://schemas.openxmlformats.org/presentationml/2006/main">
  <p:sldMasterIdLst>
    <p:sldMasterId xmlns:r="http://schemas.openxmlformats.org/officeDocument/2006/relationships" id="2147483648" r:id="R702a49e2fbc74d74"/>
  </p:sldMasterIdLst>
  <p:notesMasterIdLst>
    <p:notesMasterId xmlns:r="http://schemas.openxmlformats.org/officeDocument/2006/relationships" r:id="R0eb721f4f1454a69"/>
  </p:notesMasterIdLst>
  <p:sldIdLst>
    <p:sldId xmlns:r="http://schemas.openxmlformats.org/officeDocument/2006/relationships" id="256" r:id="Rf50f64f3f3da41eb"/>
    <p:sldId xmlns:r="http://schemas.openxmlformats.org/officeDocument/2006/relationships" id="257" r:id="R849f61e45eba428f"/>
    <p:sldId xmlns:r="http://schemas.openxmlformats.org/officeDocument/2006/relationships" id="258" r:id="Rec9bdb4ed5d243f9"/>
    <p:sldId xmlns:r="http://schemas.openxmlformats.org/officeDocument/2006/relationships" id="259" r:id="R04140da59f8e4bff"/>
    <p:sldId xmlns:r="http://schemas.openxmlformats.org/officeDocument/2006/relationships" id="260" r:id="R2363d7e953704f43"/>
    <p:sldId xmlns:r="http://schemas.openxmlformats.org/officeDocument/2006/relationships" id="261" r:id="R7b1b14a1de2f4160"/>
    <p:sldId xmlns:r="http://schemas.openxmlformats.org/officeDocument/2006/relationships" id="262" r:id="R821b4081d543413a"/>
    <p:sldId xmlns:r="http://schemas.openxmlformats.org/officeDocument/2006/relationships" id="263" r:id="R1f8a02f8c64546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2ec3f916bb45e0" /><Relationship Type="http://schemas.openxmlformats.org/officeDocument/2006/relationships/slideMaster" Target="/ppt/slideMasters/slideMaster1.xml" Id="R702a49e2fbc74d74" /><Relationship Type="http://schemas.openxmlformats.org/officeDocument/2006/relationships/notesMaster" Target="/ppt/notesMasters/notesMaster1.xml" Id="R0eb721f4f1454a69" /><Relationship Type="http://schemas.openxmlformats.org/officeDocument/2006/relationships/presProps" Target="/ppt/presProps.xml" Id="R50302ee8167d4999" /><Relationship Type="http://schemas.openxmlformats.org/officeDocument/2006/relationships/tableStyles" Target="/ppt/tableStyles.xml" Id="R7ecb76e7110d4be9" /><Relationship Type="http://schemas.openxmlformats.org/officeDocument/2006/relationships/slide" Target="/ppt/slides/slide1.xml" Id="Rf50f64f3f3da41eb" /><Relationship Type="http://schemas.openxmlformats.org/officeDocument/2006/relationships/slide" Target="/ppt/slides/slide2.xml" Id="R849f61e45eba428f" /><Relationship Type="http://schemas.openxmlformats.org/officeDocument/2006/relationships/slide" Target="/ppt/slides/slide3.xml" Id="Rec9bdb4ed5d243f9" /><Relationship Type="http://schemas.openxmlformats.org/officeDocument/2006/relationships/slide" Target="/ppt/slides/slide4.xml" Id="R04140da59f8e4bff" /><Relationship Type="http://schemas.openxmlformats.org/officeDocument/2006/relationships/slide" Target="/ppt/slides/slide5.xml" Id="R2363d7e953704f43" /><Relationship Type="http://schemas.openxmlformats.org/officeDocument/2006/relationships/slide" Target="/ppt/slides/slide6.xml" Id="R7b1b14a1de2f4160" /><Relationship Type="http://schemas.openxmlformats.org/officeDocument/2006/relationships/slide" Target="/ppt/slides/slide7.xml" Id="R821b4081d543413a" /><Relationship Type="http://schemas.openxmlformats.org/officeDocument/2006/relationships/slide" Target="/ppt/slides/slide8.xml" Id="R1f8a02f8c64546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de57bbc1c64a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e84f490c874e41" /><Relationship Type="http://schemas.openxmlformats.org/officeDocument/2006/relationships/notesMaster" Target="/ppt/notesMasters/notesMaster1.xml" Id="Rbaa55ad50c404e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1b0ac2d81a4369" /><Relationship Type="http://schemas.openxmlformats.org/officeDocument/2006/relationships/notesMaster" Target="/ppt/notesMasters/notesMaster1.xml" Id="Rbe96c8807a0345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5a4e61fab34233" /><Relationship Type="http://schemas.openxmlformats.org/officeDocument/2006/relationships/notesMaster" Target="/ppt/notesMasters/notesMaster1.xml" Id="R9ba96259716d47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79b47271154a29" /><Relationship Type="http://schemas.openxmlformats.org/officeDocument/2006/relationships/notesMaster" Target="/ppt/notesMasters/notesMaster1.xml" Id="R916c6fbfddd344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93500a1cb949b5" /><Relationship Type="http://schemas.openxmlformats.org/officeDocument/2006/relationships/notesMaster" Target="/ppt/notesMasters/notesMaster1.xml" Id="Rbf6796d73ad74e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2368f4e49845bc" /><Relationship Type="http://schemas.openxmlformats.org/officeDocument/2006/relationships/notesMaster" Target="/ppt/notesMasters/notesMaster1.xml" Id="R75e1278cd18241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276603038f45a1" /><Relationship Type="http://schemas.openxmlformats.org/officeDocument/2006/relationships/notesMaster" Target="/ppt/notesMasters/notesMaster1.xml" Id="Rb939cbe4b2744d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2d8ef14b7d4ff5" /><Relationship Type="http://schemas.openxmlformats.org/officeDocument/2006/relationships/notesMaster" Target="/ppt/notesMasters/notesMaster1.xml" Id="R437b223ce13a41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Slide 1 uses the listed literature to support the paragraph content.</a:t>
            </a:r>
          </a:p>
          <a:p xmlns:a="http://schemas.openxmlformats.org/drawingml/2006/main">
            <a:r>
              <a:t/>
            </a:r>
          </a:p>
          <a:p xmlns:a="http://schemas.openxmlformats.org/drawingml/2006/main">
            <a:r>
              <a:t>- Verdouw, C. N., Tekinerdogan, B., Beulens, A., &amp; Wolfert, S. (2021). Digital twins in smart farming. Agricultural Systems, 189, 103046. https://doi.org/10.1016/j.agsy.2020.103046</a:t>
            </a:r>
          </a:p>
          <a:p xmlns:a="http://schemas.openxmlformats.org/drawingml/2006/main">
            <a:r>
              <a:t>- Pylianidis, C., Osinga, S., &amp; Athanasiadis, I. N. (2021). Introducing digital twins to agriculture. Computers and Electronics in Agriculture, 184, 105942. https://doi.org/10.1016/j.compag.2020.105942</a:t>
            </a:r>
          </a:p>
          <a:p xmlns:a="http://schemas.openxmlformats.org/drawingml/2006/main">
            <a:r>
              <a:t>- Wolfert, S., Ge, L., Verdouw, C., &amp; Bogaardt, M.-J. (2017). Big Data in Smart Farming - A review. Agricultural Systems, 153, 69-80. https://doi.org/10.1016/j.agsy.2017.01.023</a:t>
            </a:r>
          </a:p>
          <a:p xmlns:a="http://schemas.openxmlformats.org/drawingml/2006/main">
            <a:r>
              <a:t>- Liakos, K. G., Busato, P., Moshou, D., Pearson, S., &amp; Bochtis, D. (2018). Machine Learning in Agriculture: A Review. Sensors, 18(8), 2674. https://doi.org/10.3390/s18082674</a:t>
            </a:r>
          </a:p>
          <a:p xmlns:a="http://schemas.openxmlformats.org/drawingml/2006/main">
            <a:r>
              <a:t>- Kamilaris, A., &amp; Prenafeta-Boldu, F. X. (2018). Deep learning in agriculture: A survey. Computers and Electronics in Agriculture, 147, 70-90. https://doi.org/10.1016/j.compag.2018.02.016</a:t>
            </a:r>
          </a:p>
          <a:p xmlns:a="http://schemas.openxmlformats.org/drawingml/2006/main">
            <a:r>
              <a:t>- Atzori, L., Iera, A., &amp; Morabito, G. (2010). The Internet of Things: A survey. Computer Networks, 54(15), 2787-2805. https://doi.org/10.1016/j.comnet.2010.05.010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Slide 2 uses the listed literature to support the paragraph content.</a:t>
            </a:r>
          </a:p>
          <a:p xmlns:a="http://schemas.openxmlformats.org/drawingml/2006/main">
            <a:r>
              <a:t/>
            </a:r>
          </a:p>
          <a:p xmlns:a="http://schemas.openxmlformats.org/drawingml/2006/main">
            <a:r>
              <a:t>- Verdouw, C. N., Tekinerdogan, B., Beulens, A., &amp; Wolfert, S. (2021). Digital twins in smart farming. Agricultural Systems, 189, 103046. https://doi.org/10.1016/j.agsy.2020.103046</a:t>
            </a:r>
          </a:p>
          <a:p xmlns:a="http://schemas.openxmlformats.org/drawingml/2006/main">
            <a:r>
              <a:t>- Pylianidis, C., Osinga, S., &amp; Athanasiadis, I. N. (2021). Introducing digital twins to agriculture. Computers and Electronics in Agriculture, 184, 105942. https://doi.org/10.1016/j.compag.2020.105942</a:t>
            </a:r>
          </a:p>
          <a:p xmlns:a="http://schemas.openxmlformats.org/drawingml/2006/main">
            <a:r>
              <a:t>- Wolfert, S., Ge, L., Verdouw, C., &amp; Bogaardt, M.-J. (2017). Big Data in Smart Farming - A review. Agricultural Systems, 153, 69-80. https://doi.org/10.1016/j.agsy.2017.01.023</a:t>
            </a:r>
          </a:p>
          <a:p xmlns:a="http://schemas.openxmlformats.org/drawingml/2006/main">
            <a:r>
              <a:t>- Liakos, K. G., Busato, P., Moshou, D., Pearson, S., &amp; Bochtis, D. (2018). Machine Learning in Agriculture: A Review. Sensors, 18(8), 2674. https://doi.org/10.3390/s18082674</a:t>
            </a:r>
          </a:p>
          <a:p xmlns:a="http://schemas.openxmlformats.org/drawingml/2006/main">
            <a:r>
              <a:t>- Kamilaris, A., &amp; Prenafeta-Boldu, F. X. (2018). Deep learning in agriculture: A survey. Computers and Electronics in Agriculture, 147, 70-90. https://doi.org/10.1016/j.compag.2018.02.016</a:t>
            </a:r>
          </a:p>
          <a:p xmlns:a="http://schemas.openxmlformats.org/drawingml/2006/main">
            <a:r>
              <a:t>- Atzori, L., Iera, A., &amp; Morabito, G. (2010). The Internet of Things: A survey. Computer Networks, 54(15), 2787-2805. https://doi.org/10.1016/j.comnet.2010.05.010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Slide 3 uses the listed literature to support the paragraph content.</a:t>
            </a:r>
          </a:p>
          <a:p xmlns:a="http://schemas.openxmlformats.org/drawingml/2006/main">
            <a:r>
              <a:t/>
            </a:r>
          </a:p>
          <a:p xmlns:a="http://schemas.openxmlformats.org/drawingml/2006/main">
            <a:r>
              <a:t>- Verdouw, C. N., Tekinerdogan, B., Beulens, A., &amp; Wolfert, S. (2021). Digital twins in smart farming. Agricultural Systems, 189, 103046. https://doi.org/10.1016/j.agsy.2020.103046</a:t>
            </a:r>
          </a:p>
          <a:p xmlns:a="http://schemas.openxmlformats.org/drawingml/2006/main">
            <a:r>
              <a:t>- Pylianidis, C., Osinga, S., &amp; Athanasiadis, I. N. (2021). Introducing digital twins to agriculture. Computers and Electronics in Agriculture, 184, 105942. https://doi.org/10.1016/j.compag.2020.105942</a:t>
            </a:r>
          </a:p>
          <a:p xmlns:a="http://schemas.openxmlformats.org/drawingml/2006/main">
            <a:r>
              <a:t>- Wolfert, S., Ge, L., Verdouw, C., &amp; Bogaardt, M.-J. (2017). Big Data in Smart Farming - A review. Agricultural Systems, 153, 69-80. https://doi.org/10.1016/j.agsy.2017.01.023</a:t>
            </a:r>
          </a:p>
          <a:p xmlns:a="http://schemas.openxmlformats.org/drawingml/2006/main">
            <a:r>
              <a:t>- Liakos, K. G., Busato, P., Moshou, D., Pearson, S., &amp; Bochtis, D. (2018). Machine Learning in Agriculture: A Review. Sensors, 18(8), 2674. https://doi.org/10.3390/s18082674</a:t>
            </a:r>
          </a:p>
          <a:p xmlns:a="http://schemas.openxmlformats.org/drawingml/2006/main">
            <a:r>
              <a:t>- Kamilaris, A., &amp; Prenafeta-Boldu, F. X. (2018). Deep learning in agriculture: A survey. Computers and Electronics in Agriculture, 147, 70-90. https://doi.org/10.1016/j.compag.2018.02.016</a:t>
            </a:r>
          </a:p>
          <a:p xmlns:a="http://schemas.openxmlformats.org/drawingml/2006/main">
            <a:r>
              <a:t>- Atzori, L., Iera, A., &amp; Morabito, G. (2010). The Internet of Things: A survey. Computer Networks, 54(15), 2787-2805. https://doi.org/10.1016/j.comnet.2010.05.010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Slide 4 uses the listed literature to support the paragraph content.</a:t>
            </a:r>
          </a:p>
          <a:p xmlns:a="http://schemas.openxmlformats.org/drawingml/2006/main">
            <a:r>
              <a:t/>
            </a:r>
          </a:p>
          <a:p xmlns:a="http://schemas.openxmlformats.org/drawingml/2006/main">
            <a:r>
              <a:t>- Verdouw, C. N., Tekinerdogan, B., Beulens, A., &amp; Wolfert, S. (2021). Digital twins in smart farming. Agricultural Systems, 189, 103046. https://doi.org/10.1016/j.agsy.2020.103046</a:t>
            </a:r>
          </a:p>
          <a:p xmlns:a="http://schemas.openxmlformats.org/drawingml/2006/main">
            <a:r>
              <a:t>- Pylianidis, C., Osinga, S., &amp; Athanasiadis, I. N. (2021). Introducing digital twins to agriculture. Computers and Electronics in Agriculture, 184, 105942. https://doi.org/10.1016/j.compag.2020.105942</a:t>
            </a:r>
          </a:p>
          <a:p xmlns:a="http://schemas.openxmlformats.org/drawingml/2006/main">
            <a:r>
              <a:t>- Wolfert, S., Ge, L., Verdouw, C., &amp; Bogaardt, M.-J. (2017). Big Data in Smart Farming - A review. Agricultural Systems, 153, 69-80. https://doi.org/10.1016/j.agsy.2017.01.023</a:t>
            </a:r>
          </a:p>
          <a:p xmlns:a="http://schemas.openxmlformats.org/drawingml/2006/main">
            <a:r>
              <a:t>- Liakos, K. G., Busato, P., Moshou, D., Pearson, S., &amp; Bochtis, D. (2018). Machine Learning in Agriculture: A Review. Sensors, 18(8), 2674. https://doi.org/10.3390/s18082674</a:t>
            </a:r>
          </a:p>
          <a:p xmlns:a="http://schemas.openxmlformats.org/drawingml/2006/main">
            <a:r>
              <a:t>- Kamilaris, A., &amp; Prenafeta-Boldu, F. X. (2018). Deep learning in agriculture: A survey. Computers and Electronics in Agriculture, 147, 70-90. https://doi.org/10.1016/j.compag.2018.02.016</a:t>
            </a:r>
          </a:p>
          <a:p xmlns:a="http://schemas.openxmlformats.org/drawingml/2006/main">
            <a:r>
              <a:t>- Atzori, L., Iera, A., &amp; Morabito, G. (2010). The Internet of Things: A survey. Computer Networks, 54(15), 2787-2805. https://doi.org/10.1016/j.comnet.2010.05.010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Slide 5 uses the listed literature to support the paragraph content.</a:t>
            </a:r>
          </a:p>
          <a:p xmlns:a="http://schemas.openxmlformats.org/drawingml/2006/main">
            <a:r>
              <a:t/>
            </a:r>
          </a:p>
          <a:p xmlns:a="http://schemas.openxmlformats.org/drawingml/2006/main">
            <a:r>
              <a:t>- Verdouw, C. N., Tekinerdogan, B., Beulens, A., &amp; Wolfert, S. (2021). Digital twins in smart farming. Agricultural Systems, 189, 103046. https://doi.org/10.1016/j.agsy.2020.103046</a:t>
            </a:r>
          </a:p>
          <a:p xmlns:a="http://schemas.openxmlformats.org/drawingml/2006/main">
            <a:r>
              <a:t>- Pylianidis, C., Osinga, S., &amp; Athanasiadis, I. N. (2021). Introducing digital twins to agriculture. Computers and Electronics in Agriculture, 184, 105942. https://doi.org/10.1016/j.compag.2020.105942</a:t>
            </a:r>
          </a:p>
          <a:p xmlns:a="http://schemas.openxmlformats.org/drawingml/2006/main">
            <a:r>
              <a:t>- Wolfert, S., Ge, L., Verdouw, C., &amp; Bogaardt, M.-J. (2017). Big Data in Smart Farming - A review. Agricultural Systems, 153, 69-80. https://doi.org/10.1016/j.agsy.2017.01.023</a:t>
            </a:r>
          </a:p>
          <a:p xmlns:a="http://schemas.openxmlformats.org/drawingml/2006/main">
            <a:r>
              <a:t>- Liakos, K. G., Busato, P., Moshou, D., Pearson, S., &amp; Bochtis, D. (2018). Machine Learning in Agriculture: A Review. Sensors, 18(8), 2674. https://doi.org/10.3390/s18082674</a:t>
            </a:r>
          </a:p>
          <a:p xmlns:a="http://schemas.openxmlformats.org/drawingml/2006/main">
            <a:r>
              <a:t>- Kamilaris, A., &amp; Prenafeta-Boldu, F. X. (2018). Deep learning in agriculture: A survey. Computers and Electronics in Agriculture, 147, 70-90. https://doi.org/10.1016/j.compag.2018.02.016</a:t>
            </a:r>
          </a:p>
          <a:p xmlns:a="http://schemas.openxmlformats.org/drawingml/2006/main">
            <a:r>
              <a:t>- Atzori, L., Iera, A., &amp; Morabito, G. (2010). The Internet of Things: A survey. Computer Networks, 54(15), 2787-2805. https://doi.org/10.1016/j.comnet.2010.05.010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Slide 6 uses the listed literature to support the paragraph content.</a:t>
            </a:r>
          </a:p>
          <a:p xmlns:a="http://schemas.openxmlformats.org/drawingml/2006/main">
            <a:r>
              <a:t/>
            </a:r>
          </a:p>
          <a:p xmlns:a="http://schemas.openxmlformats.org/drawingml/2006/main">
            <a:r>
              <a:t>- Verdouw, C. N., Tekinerdogan, B., Beulens, A., &amp; Wolfert, S. (2021). Digital twins in smart farming. Agricultural Systems, 189, 103046. https://doi.org/10.1016/j.agsy.2020.103046</a:t>
            </a:r>
          </a:p>
          <a:p xmlns:a="http://schemas.openxmlformats.org/drawingml/2006/main">
            <a:r>
              <a:t>- Pylianidis, C., Osinga, S., &amp; Athanasiadis, I. N. (2021). Introducing digital twins to agriculture. Computers and Electronics in Agriculture, 184, 105942. https://doi.org/10.1016/j.compag.2020.105942</a:t>
            </a:r>
          </a:p>
          <a:p xmlns:a="http://schemas.openxmlformats.org/drawingml/2006/main">
            <a:r>
              <a:t>- Wolfert, S., Ge, L., Verdouw, C., &amp; Bogaardt, M.-J. (2017). Big Data in Smart Farming - A review. Agricultural Systems, 153, 69-80. https://doi.org/10.1016/j.agsy.2017.01.023</a:t>
            </a:r>
          </a:p>
          <a:p xmlns:a="http://schemas.openxmlformats.org/drawingml/2006/main">
            <a:r>
              <a:t>- Liakos, K. G., Busato, P., Moshou, D., Pearson, S., &amp; Bochtis, D. (2018). Machine Learning in Agriculture: A Review. Sensors, 18(8), 2674. https://doi.org/10.3390/s18082674</a:t>
            </a:r>
          </a:p>
          <a:p xmlns:a="http://schemas.openxmlformats.org/drawingml/2006/main">
            <a:r>
              <a:t>- Kamilaris, A., &amp; Prenafeta-Boldu, F. X. (2018). Deep learning in agriculture: A survey. Computers and Electronics in Agriculture, 147, 70-90. https://doi.org/10.1016/j.compag.2018.02.016</a:t>
            </a:r>
          </a:p>
          <a:p xmlns:a="http://schemas.openxmlformats.org/drawingml/2006/main">
            <a:r>
              <a:t>- Atzori, L., Iera, A., &amp; Morabito, G. (2010). The Internet of Things: A survey. Computer Networks, 54(15), 2787-2805. https://doi.org/10.1016/j.comnet.2010.05.010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Slide 7 uses the listed literature to support the paragraph content.</a:t>
            </a:r>
          </a:p>
          <a:p xmlns:a="http://schemas.openxmlformats.org/drawingml/2006/main">
            <a:r>
              <a:t/>
            </a:r>
          </a:p>
          <a:p xmlns:a="http://schemas.openxmlformats.org/drawingml/2006/main">
            <a:r>
              <a:t>- Verdouw, C. N., Tekinerdogan, B., Beulens, A., &amp; Wolfert, S. (2021). Digital twins in smart farming. Agricultural Systems, 189, 103046. https://doi.org/10.1016/j.agsy.2020.103046</a:t>
            </a:r>
          </a:p>
          <a:p xmlns:a="http://schemas.openxmlformats.org/drawingml/2006/main">
            <a:r>
              <a:t>- Pylianidis, C., Osinga, S., &amp; Athanasiadis, I. N. (2021). Introducing digital twins to agriculture. Computers and Electronics in Agriculture, 184, 105942. https://doi.org/10.1016/j.compag.2020.105942</a:t>
            </a:r>
          </a:p>
          <a:p xmlns:a="http://schemas.openxmlformats.org/drawingml/2006/main">
            <a:r>
              <a:t>- Wolfert, S., Ge, L., Verdouw, C., &amp; Bogaardt, M.-J. (2017). Big Data in Smart Farming - A review. Agricultural Systems, 153, 69-80. https://doi.org/10.1016/j.agsy.2017.01.023</a:t>
            </a:r>
          </a:p>
          <a:p xmlns:a="http://schemas.openxmlformats.org/drawingml/2006/main">
            <a:r>
              <a:t>- Liakos, K. G., Busato, P., Moshou, D., Pearson, S., &amp; Bochtis, D. (2018). Machine Learning in Agriculture: A Review. Sensors, 18(8), 2674. https://doi.org/10.3390/s18082674</a:t>
            </a:r>
          </a:p>
          <a:p xmlns:a="http://schemas.openxmlformats.org/drawingml/2006/main">
            <a:r>
              <a:t>- Kamilaris, A., &amp; Prenafeta-Boldu, F. X. (2018). Deep learning in agriculture: A survey. Computers and Electronics in Agriculture, 147, 70-90. https://doi.org/10.1016/j.compag.2018.02.016</a:t>
            </a:r>
          </a:p>
          <a:p xmlns:a="http://schemas.openxmlformats.org/drawingml/2006/main">
            <a:r>
              <a:t>- Atzori, L., Iera, A., &amp; Morabito, G. (2010). The Internet of Things: A survey. Computer Networks, 54(15), 2787-2805. https://doi.org/10.1016/j.comnet.2010.05.010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Slide 8 uses the listed literature to support the paragraph content.</a:t>
            </a:r>
          </a:p>
          <a:p xmlns:a="http://schemas.openxmlformats.org/drawingml/2006/main">
            <a:r>
              <a:t/>
            </a:r>
          </a:p>
          <a:p xmlns:a="http://schemas.openxmlformats.org/drawingml/2006/main">
            <a:r>
              <a:t>- Verdouw, C. N., Tekinerdogan, B., Beulens, A., &amp; Wolfert, S. (2021). Digital twins in smart farming. Agricultural Systems, 189, 103046. https://doi.org/10.1016/j.agsy.2020.103046</a:t>
            </a:r>
          </a:p>
          <a:p xmlns:a="http://schemas.openxmlformats.org/drawingml/2006/main">
            <a:r>
              <a:t>- Pylianidis, C., Osinga, S., &amp; Athanasiadis, I. N. (2021). Introducing digital twins to agriculture. Computers and Electronics in Agriculture, 184, 105942. https://doi.org/10.1016/j.compag.2020.105942</a:t>
            </a:r>
          </a:p>
          <a:p xmlns:a="http://schemas.openxmlformats.org/drawingml/2006/main">
            <a:r>
              <a:t>- Wolfert, S., Ge, L., Verdouw, C., &amp; Bogaardt, M.-J. (2017). Big Data in Smart Farming - A review. Agricultural Systems, 153, 69-80. https://doi.org/10.1016/j.agsy.2017.01.023</a:t>
            </a:r>
          </a:p>
          <a:p xmlns:a="http://schemas.openxmlformats.org/drawingml/2006/main">
            <a:r>
              <a:t>- Liakos, K. G., Busato, P., Moshou, D., Pearson, S., &amp; Bochtis, D. (2018). Machine Learning in Agriculture: A Review. Sensors, 18(8), 2674. https://doi.org/10.3390/s18082674</a:t>
            </a:r>
          </a:p>
          <a:p xmlns:a="http://schemas.openxmlformats.org/drawingml/2006/main">
            <a:r>
              <a:t>- Kamilaris, A., &amp; Prenafeta-Boldu, F. X. (2018). Deep learning in agriculture: A survey. Computers and Electronics in Agriculture, 147, 70-90. https://doi.org/10.1016/j.compag.2018.02.016</a:t>
            </a:r>
          </a:p>
          <a:p xmlns:a="http://schemas.openxmlformats.org/drawingml/2006/main">
            <a:r>
              <a:t>- Atzori, L., Iera, A., &amp; Morabito, G. (2010). The Internet of Things: A survey. Computer Networks, 54(15), 2787-2805. https://doi.org/10.1016/j.comnet.2010.05.010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714b1c07214f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213fc2933e4772" /><Relationship Type="http://schemas.openxmlformats.org/officeDocument/2006/relationships/slideLayout" Target="/ppt/slideLayouts/slideLayout1.xml" Id="Rbf9cf8f1097941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9cf8f1097941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ea6fb28d5246a6" /><Relationship Type="http://schemas.openxmlformats.org/officeDocument/2006/relationships/notesSlide" Target="/ppt/notesSlides/notesSlide1.xml" Id="R465a5b45dc6041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bf4d3f113c4b1d" /><Relationship Type="http://schemas.openxmlformats.org/officeDocument/2006/relationships/notesSlide" Target="/ppt/notesSlides/notesSlide2.xml" Id="R78e6e35fdef143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c5ad1f223e4e9d" /><Relationship Type="http://schemas.openxmlformats.org/officeDocument/2006/relationships/notesSlide" Target="/ppt/notesSlides/notesSlide3.xml" Id="Rcb02501e7b8845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0b565bf25b47a7" /><Relationship Type="http://schemas.openxmlformats.org/officeDocument/2006/relationships/notesSlide" Target="/ppt/notesSlides/notesSlide4.xml" Id="R1e6e9705b54148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4a1dcdef7c4aad" /><Relationship Type="http://schemas.openxmlformats.org/officeDocument/2006/relationships/notesSlide" Target="/ppt/notesSlides/notesSlide5.xml" Id="R669884d3ef4f4d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cbaeae253f4900" /><Relationship Type="http://schemas.openxmlformats.org/officeDocument/2006/relationships/notesSlide" Target="/ppt/notesSlides/notesSlide6.xml" Id="R673a8f5ebc114c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8b16e8c3814fe9" /><Relationship Type="http://schemas.openxmlformats.org/officeDocument/2006/relationships/notesSlide" Target="/ppt/notesSlides/notesSlide7.xml" Id="R017164190a434f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9834440b93046ac" /><Relationship Type="http://schemas.openxmlformats.org/officeDocument/2006/relationships/notesSlide" Target="/ppt/notesSlides/notesSlide8.xml" Id="Re0234f349c7a440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D8A752-BA14-4516-9B5A-AA756EF3CED9}"/>
              </a:ext>
            </a:extLst>
          </p:cNvPr>
          <p:cNvSpPr>
            <a:spLocks xmlns:a="http://schemas.openxmlformats.org/drawingml/2006/main" noGrp="1"/>
          </p:cNvSpPr>
          <p:nvPr/>
        </p:nvSpPr>
        <p:spPr>
          <a:xfrm xmlns:a="http://schemas.openxmlformats.org/drawingml/2006/main">
            <a:off x="74295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A"/>
                </a:solidFill>
              </a:defRPr>
            </a:pPr>
            <a:r>
              <a:rPr sz="1050" b="1">
                <a:solidFill>
                  <a:srgbClr val="2F7D4A"/>
                </a:solidFill>
              </a:rPr>
              <a:t>TITLE</a:t>
            </a:r>
          </a:p>
        </p:txBody>
      </p:sp>
      <p:sp>
        <p:nvSpPr>
          <p:cNvPr id="2" name="">
            <a:extLst xmlns:a="http://schemas.openxmlformats.org/drawingml/2006/main">
              <a:ext uri="{FF2B5EF4-FFF2-40B4-BE49-F238E27FC236}">
                <a16:creationId xmlns:a16="http://schemas.microsoft.com/office/drawing/2014/main" id="{F102E2DB-4EEB-4B95-A722-6D5783F68382}"/>
              </a:ext>
            </a:extLst>
          </p:cNvPr>
          <p:cNvSpPr>
            <a:spLocks xmlns:a="http://schemas.openxmlformats.org/drawingml/2006/main" noGrp="1"/>
          </p:cNvSpPr>
          <p:nvPr/>
        </p:nvSpPr>
        <p:spPr>
          <a:xfrm xmlns:a="http://schemas.openxmlformats.org/drawingml/2006/main">
            <a:off x="742950" y="990600"/>
            <a:ext cx="942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350" b="1">
                <a:solidFill>
                  <a:srgbClr val="101412"/>
                </a:solidFill>
              </a:defRPr>
            </a:pPr>
            <a:r>
              <a:rPr sz="4350" b="1">
                <a:solidFill>
                  <a:srgbClr val="101412"/>
                </a:solidFill>
              </a:rPr>
              <a:t>Agro Twin</a:t>
            </a:r>
          </a:p>
        </p:txBody>
      </p:sp>
      <p:sp>
        <p:nvSpPr>
          <p:cNvPr id="3" name="">
            <a:extLst xmlns:a="http://schemas.openxmlformats.org/drawingml/2006/main">
              <a:ext uri="{FF2B5EF4-FFF2-40B4-BE49-F238E27FC236}">
                <a16:creationId xmlns:a16="http://schemas.microsoft.com/office/drawing/2014/main" id="{AD4EF474-6AB5-4144-8A09-B9A81608CE86}"/>
              </a:ext>
            </a:extLst>
          </p:cNvPr>
          <p:cNvSpPr>
            <a:spLocks xmlns:a="http://schemas.openxmlformats.org/drawingml/2006/main" noGrp="1"/>
          </p:cNvSpPr>
          <p:nvPr/>
        </p:nvSpPr>
        <p:spPr>
          <a:xfrm xmlns:a="http://schemas.openxmlformats.org/drawingml/2006/main">
            <a:off x="742950" y="171450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2F7D4A"/>
                </a:solidFill>
              </a:defRPr>
            </a:pPr>
            <a:r>
              <a:rPr sz="2625" b="1">
                <a:solidFill>
                  <a:srgbClr val="2F7D4A"/>
                </a:solidFill>
              </a:rPr>
              <a:t>Literature Review</a:t>
            </a:r>
          </a:p>
        </p:txBody>
      </p:sp>
      <p:sp>
        <p:nvSpPr>
          <p:cNvPr id="4" name="">
            <a:extLst xmlns:a="http://schemas.openxmlformats.org/drawingml/2006/main">
              <a:ext uri="{FF2B5EF4-FFF2-40B4-BE49-F238E27FC236}">
                <a16:creationId xmlns:a16="http://schemas.microsoft.com/office/drawing/2014/main" id="{FA327677-BCF1-4155-9C0F-797B26AC6D29}"/>
              </a:ext>
            </a:extLst>
          </p:cNvPr>
          <p:cNvSpPr>
            <a:spLocks xmlns:a="http://schemas.openxmlformats.org/drawingml/2006/main" noGrp="1"/>
          </p:cNvSpPr>
          <p:nvPr/>
        </p:nvSpPr>
        <p:spPr>
          <a:xfrm xmlns:a="http://schemas.openxmlformats.org/drawingml/2006/main">
            <a:off x="742950" y="2419350"/>
            <a:ext cx="10706100" cy="19050"/>
          </a:xfrm>
          <a:prstGeom xmlns:a="http://schemas.openxmlformats.org/drawingml/2006/main" prst="rect">
            <a:avLst/>
          </a:prstGeom>
          <a:solidFill xmlns:a="http://schemas.openxmlformats.org/drawingml/2006/main">
            <a:srgbClr val="C8D3C5"/>
          </a:solidFill>
          <a:ln xmlns:a="http://schemas.openxmlformats.org/drawingml/2006/main" w="0">
            <a:solidFill>
              <a:srgbClr val="C8D3C5"/>
            </a:solidFill>
            <a:prstDash val="solid"/>
          </a:ln>
        </p:spPr>
      </p:sp>
      <p:sp>
        <p:nvSpPr>
          <p:cNvPr id="5" name="">
            <a:extLst xmlns:a="http://schemas.openxmlformats.org/drawingml/2006/main">
              <a:ext uri="{FF2B5EF4-FFF2-40B4-BE49-F238E27FC236}">
                <a16:creationId xmlns:a16="http://schemas.microsoft.com/office/drawing/2014/main" id="{0229F0F8-9E6B-4398-B6FD-30A21EAF3B5C}"/>
              </a:ext>
            </a:extLst>
          </p:cNvPr>
          <p:cNvSpPr>
            <a:spLocks xmlns:a="http://schemas.openxmlformats.org/drawingml/2006/main" noGrp="1"/>
          </p:cNvSpPr>
          <p:nvPr/>
        </p:nvSpPr>
        <p:spPr>
          <a:xfrm xmlns:a="http://schemas.openxmlformats.org/drawingml/2006/main">
            <a:off x="742950" y="2419350"/>
            <a:ext cx="1466850" cy="47625"/>
          </a:xfrm>
          <a:prstGeom xmlns:a="http://schemas.openxmlformats.org/drawingml/2006/main" prst="rect">
            <a:avLst/>
          </a:prstGeom>
          <a:solidFill xmlns:a="http://schemas.openxmlformats.org/drawingml/2006/main">
            <a:srgbClr val="2F7D4A"/>
          </a:solidFill>
          <a:ln xmlns:a="http://schemas.openxmlformats.org/drawingml/2006/main" w="0">
            <a:solidFill>
              <a:srgbClr val="2F7D4A"/>
            </a:solidFill>
            <a:prstDash val="solid"/>
          </a:ln>
        </p:spPr>
      </p:sp>
      <p:sp>
        <p:nvSpPr>
          <p:cNvPr id="6" name="">
            <a:extLst xmlns:a="http://schemas.openxmlformats.org/drawingml/2006/main">
              <a:ext uri="{FF2B5EF4-FFF2-40B4-BE49-F238E27FC236}">
                <a16:creationId xmlns:a16="http://schemas.microsoft.com/office/drawing/2014/main" id="{D8A2C592-9911-4150-B7F6-2BC561448340}"/>
              </a:ext>
            </a:extLst>
          </p:cNvPr>
          <p:cNvSpPr>
            <a:spLocks xmlns:a="http://schemas.openxmlformats.org/drawingml/2006/main" noGrp="1"/>
          </p:cNvSpPr>
          <p:nvPr/>
        </p:nvSpPr>
        <p:spPr>
          <a:xfrm xmlns:a="http://schemas.openxmlformats.org/drawingml/2006/main">
            <a:off x="742950" y="28765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101412"/>
                </a:solidFill>
              </a:defRPr>
            </a:pPr>
            <a:r>
              <a:rPr sz="1650">
                <a:solidFill>
                  <a:srgbClr val="101412"/>
                </a:solidFill>
              </a:rPr>
              <a:t>Agro Twin is a proposed digital twin based smart agriculture system. The project studies how a virtual representation of an agricultural field can be connected with real field data, crop observations, weather information, and prediction models to support better farming decisions.</a:t>
            </a:r>
          </a:p>
        </p:txBody>
      </p:sp>
      <p:sp>
        <p:nvSpPr>
          <p:cNvPr id="7" name="">
            <a:extLst xmlns:a="http://schemas.openxmlformats.org/drawingml/2006/main">
              <a:ext uri="{FF2B5EF4-FFF2-40B4-BE49-F238E27FC236}">
                <a16:creationId xmlns:a16="http://schemas.microsoft.com/office/drawing/2014/main" id="{0580A2FA-7397-4879-88DB-E0CA70F6E070}"/>
              </a:ext>
            </a:extLst>
          </p:cNvPr>
          <p:cNvSpPr>
            <a:spLocks xmlns:a="http://schemas.openxmlformats.org/drawingml/2006/main" noGrp="1"/>
          </p:cNvSpPr>
          <p:nvPr/>
        </p:nvSpPr>
        <p:spPr>
          <a:xfrm xmlns:a="http://schemas.openxmlformats.org/drawingml/2006/main">
            <a:off x="742950" y="426720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101412"/>
                </a:solidFill>
              </a:defRPr>
            </a:pPr>
            <a:r>
              <a:rPr sz="1650">
                <a:solidFill>
                  <a:srgbClr val="101412"/>
                </a:solidFill>
              </a:rPr>
              <a:t>This literature review examines existing work in Internet of Things based smart farming, machine learning in agriculture, big-data driven farm management, and agricultural digital twins. The review is used to identify the research gap and justify the need for the proposed Agro Twin system.</a:t>
            </a:r>
          </a:p>
        </p:txBody>
      </p:sp>
      <p:sp>
        <p:nvSpPr>
          <p:cNvPr id="8" name="">
            <a:extLst xmlns:a="http://schemas.openxmlformats.org/drawingml/2006/main">
              <a:ext uri="{FF2B5EF4-FFF2-40B4-BE49-F238E27FC236}">
                <a16:creationId xmlns:a16="http://schemas.microsoft.com/office/drawing/2014/main" id="{484EB2E5-C76C-4336-818D-7DDCCB42F44B}"/>
              </a:ext>
            </a:extLst>
          </p:cNvPr>
          <p:cNvSpPr>
            <a:spLocks xmlns:a="http://schemas.openxmlformats.org/drawingml/2006/main" noGrp="1"/>
          </p:cNvSpPr>
          <p:nvPr/>
        </p:nvSpPr>
        <p:spPr>
          <a:xfrm xmlns:a="http://schemas.openxmlformats.org/drawingml/2006/main">
            <a:off x="8382000" y="6343650"/>
            <a:ext cx="3067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C55"/>
                </a:solidFill>
              </a:defRPr>
            </a:pPr>
            <a:r>
              <a:rPr sz="1050">
                <a:solidFill>
                  <a:srgbClr val="4F5C55"/>
                </a:solidFill>
              </a:rPr>
              <a:t>Agro Twin Literature Review | 1</a:t>
            </a:r>
          </a:p>
        </p:txBody>
      </p:sp>
    </p:spTree>
    <p:extLst>
      <p:ext uri="{BB962C8B-B14F-4D97-AF65-F5344CB8AC3E}">
        <p14:creationId xmlns:p14="http://schemas.microsoft.com/office/powerpoint/2010/main" val="4884317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015CDF-84FB-4321-BFF4-0318A501EE39}"/>
              </a:ext>
            </a:extLst>
          </p:cNvPr>
          <p:cNvSpPr>
            <a:spLocks xmlns:a="http://schemas.openxmlformats.org/drawingml/2006/main" noGrp="1"/>
          </p:cNvSpPr>
          <p:nvPr/>
        </p:nvSpPr>
        <p:spPr>
          <a:xfrm xmlns:a="http://schemas.openxmlformats.org/drawingml/2006/main">
            <a:off x="74295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A"/>
                </a:solidFill>
              </a:defRPr>
            </a:pPr>
            <a:r>
              <a:rPr sz="1050" b="1">
                <a:solidFill>
                  <a:srgbClr val="2F7D4A"/>
                </a:solidFill>
              </a:rPr>
              <a:t>LITERATURE REVIEW</a:t>
            </a:r>
          </a:p>
        </p:txBody>
      </p:sp>
      <p:sp>
        <p:nvSpPr>
          <p:cNvPr id="2" name="">
            <a:extLst xmlns:a="http://schemas.openxmlformats.org/drawingml/2006/main">
              <a:ext uri="{FF2B5EF4-FFF2-40B4-BE49-F238E27FC236}">
                <a16:creationId xmlns:a16="http://schemas.microsoft.com/office/drawing/2014/main" id="{CF3D4F5C-CC83-4BF7-AE8F-1829B8887062}"/>
              </a:ext>
            </a:extLst>
          </p:cNvPr>
          <p:cNvSpPr>
            <a:spLocks xmlns:a="http://schemas.openxmlformats.org/drawingml/2006/main" noGrp="1"/>
          </p:cNvSpPr>
          <p:nvPr/>
        </p:nvSpPr>
        <p:spPr>
          <a:xfrm xmlns:a="http://schemas.openxmlformats.org/drawingml/2006/main">
            <a:off x="742950" y="742950"/>
            <a:ext cx="942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1412"/>
                </a:solidFill>
              </a:defRPr>
            </a:pPr>
            <a:r>
              <a:rPr sz="2925" b="1">
                <a:solidFill>
                  <a:srgbClr val="101412"/>
                </a:solidFill>
              </a:rPr>
              <a:t>Abstract</a:t>
            </a:r>
          </a:p>
        </p:txBody>
      </p:sp>
      <p:sp>
        <p:nvSpPr>
          <p:cNvPr id="3" name="">
            <a:extLst xmlns:a="http://schemas.openxmlformats.org/drawingml/2006/main">
              <a:ext uri="{FF2B5EF4-FFF2-40B4-BE49-F238E27FC236}">
                <a16:creationId xmlns:a16="http://schemas.microsoft.com/office/drawing/2014/main" id="{6EEAA430-69C1-45DE-B292-2F1E51434AEA}"/>
              </a:ext>
            </a:extLst>
          </p:cNvPr>
          <p:cNvSpPr>
            <a:spLocks xmlns:a="http://schemas.openxmlformats.org/drawingml/2006/main" noGrp="1"/>
          </p:cNvSpPr>
          <p:nvPr/>
        </p:nvSpPr>
        <p:spPr>
          <a:xfrm xmlns:a="http://schemas.openxmlformats.org/drawingml/2006/main">
            <a:off x="742950" y="1390650"/>
            <a:ext cx="10706100" cy="19050"/>
          </a:xfrm>
          <a:prstGeom xmlns:a="http://schemas.openxmlformats.org/drawingml/2006/main" prst="rect">
            <a:avLst/>
          </a:prstGeom>
          <a:solidFill xmlns:a="http://schemas.openxmlformats.org/drawingml/2006/main">
            <a:srgbClr val="C8D3C5"/>
          </a:solidFill>
          <a:ln xmlns:a="http://schemas.openxmlformats.org/drawingml/2006/main" w="0">
            <a:solidFill>
              <a:srgbClr val="C8D3C5"/>
            </a:solidFill>
            <a:prstDash val="solid"/>
          </a:ln>
        </p:spPr>
      </p:sp>
      <p:sp>
        <p:nvSpPr>
          <p:cNvPr id="4" name="">
            <a:extLst xmlns:a="http://schemas.openxmlformats.org/drawingml/2006/main">
              <a:ext uri="{FF2B5EF4-FFF2-40B4-BE49-F238E27FC236}">
                <a16:creationId xmlns:a16="http://schemas.microsoft.com/office/drawing/2014/main" id="{545DC5B9-7628-450D-909E-4E1D5D03EAAD}"/>
              </a:ext>
            </a:extLst>
          </p:cNvPr>
          <p:cNvSpPr>
            <a:spLocks xmlns:a="http://schemas.openxmlformats.org/drawingml/2006/main" noGrp="1"/>
          </p:cNvSpPr>
          <p:nvPr/>
        </p:nvSpPr>
        <p:spPr>
          <a:xfrm xmlns:a="http://schemas.openxmlformats.org/drawingml/2006/main">
            <a:off x="742950" y="1390650"/>
            <a:ext cx="1466850" cy="47625"/>
          </a:xfrm>
          <a:prstGeom xmlns:a="http://schemas.openxmlformats.org/drawingml/2006/main" prst="rect">
            <a:avLst/>
          </a:prstGeom>
          <a:solidFill xmlns:a="http://schemas.openxmlformats.org/drawingml/2006/main">
            <a:srgbClr val="2F7D4A"/>
          </a:solidFill>
          <a:ln xmlns:a="http://schemas.openxmlformats.org/drawingml/2006/main" w="0">
            <a:solidFill>
              <a:srgbClr val="2F7D4A"/>
            </a:solidFill>
            <a:prstDash val="solid"/>
          </a:ln>
        </p:spPr>
      </p:sp>
      <p:sp>
        <p:nvSpPr>
          <p:cNvPr id="5" name="">
            <a:extLst xmlns:a="http://schemas.openxmlformats.org/drawingml/2006/main">
              <a:ext uri="{FF2B5EF4-FFF2-40B4-BE49-F238E27FC236}">
                <a16:creationId xmlns:a16="http://schemas.microsoft.com/office/drawing/2014/main" id="{C69488CF-001B-45D8-A25E-654DCCD7E56A}"/>
              </a:ext>
            </a:extLst>
          </p:cNvPr>
          <p:cNvSpPr>
            <a:spLocks xmlns:a="http://schemas.openxmlformats.org/drawingml/2006/main" noGrp="1"/>
          </p:cNvSpPr>
          <p:nvPr/>
        </p:nvSpPr>
        <p:spPr>
          <a:xfrm xmlns:a="http://schemas.openxmlformats.org/drawingml/2006/main">
            <a:off x="571500" y="1828800"/>
            <a:ext cx="11049000" cy="1619250"/>
          </a:xfrm>
          <a:prstGeom xmlns:a="http://schemas.openxmlformats.org/drawingml/2006/main" prst="rect">
            <a:avLst/>
          </a:prstGeom>
          <a:solidFill xmlns:a="http://schemas.openxmlformats.org/drawingml/2006/main">
            <a:srgbClr val="F5F8F3"/>
          </a:solidFill>
          <a:ln xmlns:a="http://schemas.openxmlformats.org/drawingml/2006/main" w="9525">
            <a:solidFill>
              <a:srgbClr val="C8D3C5"/>
            </a:solidFill>
            <a:prstDash val="solid"/>
          </a:ln>
        </p:spPr>
      </p:sp>
      <p:sp>
        <p:nvSpPr>
          <p:cNvPr id="6" name="">
            <a:extLst xmlns:a="http://schemas.openxmlformats.org/drawingml/2006/main">
              <a:ext uri="{FF2B5EF4-FFF2-40B4-BE49-F238E27FC236}">
                <a16:creationId xmlns:a16="http://schemas.microsoft.com/office/drawing/2014/main" id="{9513438F-AB34-4A04-BCC8-2075CABD23B3}"/>
              </a:ext>
            </a:extLst>
          </p:cNvPr>
          <p:cNvSpPr>
            <a:spLocks xmlns:a="http://schemas.openxmlformats.org/drawingml/2006/main" noGrp="1"/>
          </p:cNvSpPr>
          <p:nvPr/>
        </p:nvSpPr>
        <p:spPr>
          <a:xfrm xmlns:a="http://schemas.openxmlformats.org/drawingml/2006/main">
            <a:off x="742950" y="200025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01412"/>
                </a:solidFill>
              </a:defRPr>
            </a:pPr>
            <a:r>
              <a:rPr sz="1575">
                <a:solidFill>
                  <a:srgbClr val="101412"/>
                </a:solidFill>
              </a:rPr>
              <a:t>Agriculture is increasingly moving from experience-based decision making to data-supported decision making. Recent research shows that sensors, weather data, remote observation, and artificial intelligence can help monitor crop condition, detect stress, and predict farm requirements. However, many systems remain limited to separate monitoring or prediction tasks.</a:t>
            </a:r>
          </a:p>
        </p:txBody>
      </p:sp>
      <p:sp>
        <p:nvSpPr>
          <p:cNvPr id="7" name="">
            <a:extLst xmlns:a="http://schemas.openxmlformats.org/drawingml/2006/main">
              <a:ext uri="{FF2B5EF4-FFF2-40B4-BE49-F238E27FC236}">
                <a16:creationId xmlns:a16="http://schemas.microsoft.com/office/drawing/2014/main" id="{5CFEAED9-D52D-4724-A98E-C6FF4FAAE903}"/>
              </a:ext>
            </a:extLst>
          </p:cNvPr>
          <p:cNvSpPr>
            <a:spLocks xmlns:a="http://schemas.openxmlformats.org/drawingml/2006/main" noGrp="1"/>
          </p:cNvSpPr>
          <p:nvPr/>
        </p:nvSpPr>
        <p:spPr>
          <a:xfrm xmlns:a="http://schemas.openxmlformats.org/drawingml/2006/main">
            <a:off x="742950" y="360045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01412"/>
                </a:solidFill>
              </a:defRPr>
            </a:pPr>
            <a:r>
              <a:rPr sz="1575">
                <a:solidFill>
                  <a:srgbClr val="101412"/>
                </a:solidFill>
              </a:rPr>
              <a:t>The Agro Twin project is proposed as an integrated digital twin system for smart farming. It aims to maintain a continuously updated virtual model of the field and use that model to provide crop condition monitoring, risk prediction, and decision support. This review highlights the state of current research, the limitations of existing systems, and the gap that Agro Twin intends to address.</a:t>
            </a:r>
          </a:p>
        </p:txBody>
      </p:sp>
      <p:sp>
        <p:nvSpPr>
          <p:cNvPr id="8" name="">
            <a:extLst xmlns:a="http://schemas.openxmlformats.org/drawingml/2006/main">
              <a:ext uri="{FF2B5EF4-FFF2-40B4-BE49-F238E27FC236}">
                <a16:creationId xmlns:a16="http://schemas.microsoft.com/office/drawing/2014/main" id="{2138F691-3B18-4ABD-95AC-94B44EF8C24B}"/>
              </a:ext>
            </a:extLst>
          </p:cNvPr>
          <p:cNvSpPr>
            <a:spLocks xmlns:a="http://schemas.openxmlformats.org/drawingml/2006/main" noGrp="1"/>
          </p:cNvSpPr>
          <p:nvPr/>
        </p:nvSpPr>
        <p:spPr>
          <a:xfrm xmlns:a="http://schemas.openxmlformats.org/drawingml/2006/main">
            <a:off x="8382000" y="6343650"/>
            <a:ext cx="3067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C55"/>
                </a:solidFill>
              </a:defRPr>
            </a:pPr>
            <a:r>
              <a:rPr sz="1050">
                <a:solidFill>
                  <a:srgbClr val="4F5C55"/>
                </a:solidFill>
              </a:rPr>
              <a:t>Agro Twin Literature Review | 2</a:t>
            </a:r>
          </a:p>
        </p:txBody>
      </p:sp>
    </p:spTree>
    <p:extLst>
      <p:ext uri="{BB962C8B-B14F-4D97-AF65-F5344CB8AC3E}">
        <p14:creationId xmlns:p14="http://schemas.microsoft.com/office/powerpoint/2010/main" val="9436095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634ED4-2F67-4972-98B2-88C446CAD527}"/>
              </a:ext>
            </a:extLst>
          </p:cNvPr>
          <p:cNvSpPr>
            <a:spLocks xmlns:a="http://schemas.openxmlformats.org/drawingml/2006/main" noGrp="1"/>
          </p:cNvSpPr>
          <p:nvPr/>
        </p:nvSpPr>
        <p:spPr>
          <a:xfrm xmlns:a="http://schemas.openxmlformats.org/drawingml/2006/main">
            <a:off x="74295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A"/>
                </a:solidFill>
              </a:defRPr>
            </a:pPr>
            <a:r>
              <a:rPr sz="1050" b="1">
                <a:solidFill>
                  <a:srgbClr val="2F7D4A"/>
                </a:solidFill>
              </a:rPr>
              <a:t>BACKGROUND</a:t>
            </a:r>
          </a:p>
        </p:txBody>
      </p:sp>
      <p:sp>
        <p:nvSpPr>
          <p:cNvPr id="2" name="">
            <a:extLst xmlns:a="http://schemas.openxmlformats.org/drawingml/2006/main">
              <a:ext uri="{FF2B5EF4-FFF2-40B4-BE49-F238E27FC236}">
                <a16:creationId xmlns:a16="http://schemas.microsoft.com/office/drawing/2014/main" id="{BE1FCF49-CBB7-4486-A7E3-5FE10EC796E8}"/>
              </a:ext>
            </a:extLst>
          </p:cNvPr>
          <p:cNvSpPr>
            <a:spLocks xmlns:a="http://schemas.openxmlformats.org/drawingml/2006/main" noGrp="1"/>
          </p:cNvSpPr>
          <p:nvPr/>
        </p:nvSpPr>
        <p:spPr>
          <a:xfrm xmlns:a="http://schemas.openxmlformats.org/drawingml/2006/main">
            <a:off x="742950" y="742950"/>
            <a:ext cx="942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1412"/>
                </a:solidFill>
              </a:defRPr>
            </a:pPr>
            <a:r>
              <a:rPr sz="2925" b="1">
                <a:solidFill>
                  <a:srgbClr val="101412"/>
                </a:solidFill>
              </a:rPr>
              <a:t>Introduction</a:t>
            </a:r>
          </a:p>
        </p:txBody>
      </p:sp>
      <p:sp>
        <p:nvSpPr>
          <p:cNvPr id="3" name="">
            <a:extLst xmlns:a="http://schemas.openxmlformats.org/drawingml/2006/main">
              <a:ext uri="{FF2B5EF4-FFF2-40B4-BE49-F238E27FC236}">
                <a16:creationId xmlns:a16="http://schemas.microsoft.com/office/drawing/2014/main" id="{DC073C3B-8D01-48FB-836C-B0DA416FBABF}"/>
              </a:ext>
            </a:extLst>
          </p:cNvPr>
          <p:cNvSpPr>
            <a:spLocks xmlns:a="http://schemas.openxmlformats.org/drawingml/2006/main" noGrp="1"/>
          </p:cNvSpPr>
          <p:nvPr/>
        </p:nvSpPr>
        <p:spPr>
          <a:xfrm xmlns:a="http://schemas.openxmlformats.org/drawingml/2006/main">
            <a:off x="742950" y="1390650"/>
            <a:ext cx="10706100" cy="19050"/>
          </a:xfrm>
          <a:prstGeom xmlns:a="http://schemas.openxmlformats.org/drawingml/2006/main" prst="rect">
            <a:avLst/>
          </a:prstGeom>
          <a:solidFill xmlns:a="http://schemas.openxmlformats.org/drawingml/2006/main">
            <a:srgbClr val="C8D3C5"/>
          </a:solidFill>
          <a:ln xmlns:a="http://schemas.openxmlformats.org/drawingml/2006/main" w="0">
            <a:solidFill>
              <a:srgbClr val="C8D3C5"/>
            </a:solidFill>
            <a:prstDash val="solid"/>
          </a:ln>
        </p:spPr>
      </p:sp>
      <p:sp>
        <p:nvSpPr>
          <p:cNvPr id="4" name="">
            <a:extLst xmlns:a="http://schemas.openxmlformats.org/drawingml/2006/main">
              <a:ext uri="{FF2B5EF4-FFF2-40B4-BE49-F238E27FC236}">
                <a16:creationId xmlns:a16="http://schemas.microsoft.com/office/drawing/2014/main" id="{0C1848B5-3EF0-416B-8943-35CB850AF1A0}"/>
              </a:ext>
            </a:extLst>
          </p:cNvPr>
          <p:cNvSpPr>
            <a:spLocks xmlns:a="http://schemas.openxmlformats.org/drawingml/2006/main" noGrp="1"/>
          </p:cNvSpPr>
          <p:nvPr/>
        </p:nvSpPr>
        <p:spPr>
          <a:xfrm xmlns:a="http://schemas.openxmlformats.org/drawingml/2006/main">
            <a:off x="742950" y="1390650"/>
            <a:ext cx="1466850" cy="47625"/>
          </a:xfrm>
          <a:prstGeom xmlns:a="http://schemas.openxmlformats.org/drawingml/2006/main" prst="rect">
            <a:avLst/>
          </a:prstGeom>
          <a:solidFill xmlns:a="http://schemas.openxmlformats.org/drawingml/2006/main">
            <a:srgbClr val="2F7D4A"/>
          </a:solidFill>
          <a:ln xmlns:a="http://schemas.openxmlformats.org/drawingml/2006/main" w="0">
            <a:solidFill>
              <a:srgbClr val="2F7D4A"/>
            </a:solidFill>
            <a:prstDash val="solid"/>
          </a:ln>
        </p:spPr>
      </p:sp>
      <p:sp>
        <p:nvSpPr>
          <p:cNvPr id="5" name="">
            <a:extLst xmlns:a="http://schemas.openxmlformats.org/drawingml/2006/main">
              <a:ext uri="{FF2B5EF4-FFF2-40B4-BE49-F238E27FC236}">
                <a16:creationId xmlns:a16="http://schemas.microsoft.com/office/drawing/2014/main" id="{B7457B62-37AD-49FE-91F2-0E2EAEF174D5}"/>
              </a:ext>
            </a:extLst>
          </p:cNvPr>
          <p:cNvSpPr>
            <a:spLocks xmlns:a="http://schemas.openxmlformats.org/drawingml/2006/main" noGrp="1"/>
          </p:cNvSpPr>
          <p:nvPr/>
        </p:nvSpPr>
        <p:spPr>
          <a:xfrm xmlns:a="http://schemas.openxmlformats.org/drawingml/2006/main">
            <a:off x="571500" y="1828800"/>
            <a:ext cx="11049000" cy="1619250"/>
          </a:xfrm>
          <a:prstGeom xmlns:a="http://schemas.openxmlformats.org/drawingml/2006/main" prst="rect">
            <a:avLst/>
          </a:prstGeom>
          <a:solidFill xmlns:a="http://schemas.openxmlformats.org/drawingml/2006/main">
            <a:srgbClr val="F5F8F3"/>
          </a:solidFill>
          <a:ln xmlns:a="http://schemas.openxmlformats.org/drawingml/2006/main" w="9525">
            <a:solidFill>
              <a:srgbClr val="C8D3C5"/>
            </a:solidFill>
            <a:prstDash val="solid"/>
          </a:ln>
        </p:spPr>
      </p:sp>
      <p:sp>
        <p:nvSpPr>
          <p:cNvPr id="6" name="">
            <a:extLst xmlns:a="http://schemas.openxmlformats.org/drawingml/2006/main">
              <a:ext uri="{FF2B5EF4-FFF2-40B4-BE49-F238E27FC236}">
                <a16:creationId xmlns:a16="http://schemas.microsoft.com/office/drawing/2014/main" id="{0640E3DE-AD70-4EF4-8454-A49C7D34ED3C}"/>
              </a:ext>
            </a:extLst>
          </p:cNvPr>
          <p:cNvSpPr>
            <a:spLocks xmlns:a="http://schemas.openxmlformats.org/drawingml/2006/main" noGrp="1"/>
          </p:cNvSpPr>
          <p:nvPr/>
        </p:nvSpPr>
        <p:spPr>
          <a:xfrm xmlns:a="http://schemas.openxmlformats.org/drawingml/2006/main">
            <a:off x="742950" y="200025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01412"/>
                </a:solidFill>
              </a:defRPr>
            </a:pPr>
            <a:r>
              <a:rPr sz="1575">
                <a:solidFill>
                  <a:srgbClr val="101412"/>
                </a:solidFill>
              </a:rPr>
              <a:t>Smart agriculture applies digital technologies to improve productivity, resource use, and crop management. Traditional farming decisions often depend on periodic observation and farmer experience, but field conditions such as soil moisture, temperature, nutrient status, pest attack, and crop stress can change quickly. Because of this variability, farmers need timely and reliable information.</a:t>
            </a:r>
          </a:p>
        </p:txBody>
      </p:sp>
      <p:sp>
        <p:nvSpPr>
          <p:cNvPr id="7" name="">
            <a:extLst xmlns:a="http://schemas.openxmlformats.org/drawingml/2006/main">
              <a:ext uri="{FF2B5EF4-FFF2-40B4-BE49-F238E27FC236}">
                <a16:creationId xmlns:a16="http://schemas.microsoft.com/office/drawing/2014/main" id="{8ECB9CAF-8634-4694-80FD-425F331470EF}"/>
              </a:ext>
            </a:extLst>
          </p:cNvPr>
          <p:cNvSpPr>
            <a:spLocks xmlns:a="http://schemas.openxmlformats.org/drawingml/2006/main" noGrp="1"/>
          </p:cNvSpPr>
          <p:nvPr/>
        </p:nvSpPr>
        <p:spPr>
          <a:xfrm xmlns:a="http://schemas.openxmlformats.org/drawingml/2006/main">
            <a:off x="742950" y="360045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01412"/>
                </a:solidFill>
              </a:defRPr>
            </a:pPr>
            <a:r>
              <a:rPr sz="1575">
                <a:solidFill>
                  <a:srgbClr val="101412"/>
                </a:solidFill>
              </a:rPr>
              <a:t>Internet of Things devices, weather services, crop images, and machine learning models have created new opportunities for agricultural decision support. A digital twin extends these technologies by linking a physical farm with a virtual model that changes as real data changes. In the context of Agro Twin, this concept can help convert raw field data into meaningful recommendations.</a:t>
            </a:r>
          </a:p>
        </p:txBody>
      </p:sp>
      <p:sp>
        <p:nvSpPr>
          <p:cNvPr id="8" name="">
            <a:extLst xmlns:a="http://schemas.openxmlformats.org/drawingml/2006/main">
              <a:ext uri="{FF2B5EF4-FFF2-40B4-BE49-F238E27FC236}">
                <a16:creationId xmlns:a16="http://schemas.microsoft.com/office/drawing/2014/main" id="{468C84FA-A6F4-4B2F-AC8B-B0B9CAC3AA19}"/>
              </a:ext>
            </a:extLst>
          </p:cNvPr>
          <p:cNvSpPr>
            <a:spLocks xmlns:a="http://schemas.openxmlformats.org/drawingml/2006/main" noGrp="1"/>
          </p:cNvSpPr>
          <p:nvPr/>
        </p:nvSpPr>
        <p:spPr>
          <a:xfrm xmlns:a="http://schemas.openxmlformats.org/drawingml/2006/main">
            <a:off x="8382000" y="6343650"/>
            <a:ext cx="3067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C55"/>
                </a:solidFill>
              </a:defRPr>
            </a:pPr>
            <a:r>
              <a:rPr sz="1050">
                <a:solidFill>
                  <a:srgbClr val="4F5C55"/>
                </a:solidFill>
              </a:rPr>
              <a:t>Agro Twin Literature Review | 3</a:t>
            </a:r>
          </a:p>
        </p:txBody>
      </p:sp>
    </p:spTree>
    <p:extLst>
      <p:ext uri="{BB962C8B-B14F-4D97-AF65-F5344CB8AC3E}">
        <p14:creationId xmlns:p14="http://schemas.microsoft.com/office/powerpoint/2010/main" val="7778542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AEE3A9-3C67-4D93-8D29-856D96DC186E}"/>
              </a:ext>
            </a:extLst>
          </p:cNvPr>
          <p:cNvSpPr>
            <a:spLocks xmlns:a="http://schemas.openxmlformats.org/drawingml/2006/main" noGrp="1"/>
          </p:cNvSpPr>
          <p:nvPr/>
        </p:nvSpPr>
        <p:spPr>
          <a:xfrm xmlns:a="http://schemas.openxmlformats.org/drawingml/2006/main">
            <a:off x="74295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A"/>
                </a:solidFill>
              </a:defRPr>
            </a:pPr>
            <a:r>
              <a:rPr sz="1050" b="1">
                <a:solidFill>
                  <a:srgbClr val="2F7D4A"/>
                </a:solidFill>
              </a:rPr>
              <a:t>RELATED RESEARCH</a:t>
            </a:r>
          </a:p>
        </p:txBody>
      </p:sp>
      <p:sp>
        <p:nvSpPr>
          <p:cNvPr id="2" name="">
            <a:extLst xmlns:a="http://schemas.openxmlformats.org/drawingml/2006/main">
              <a:ext uri="{FF2B5EF4-FFF2-40B4-BE49-F238E27FC236}">
                <a16:creationId xmlns:a16="http://schemas.microsoft.com/office/drawing/2014/main" id="{5C80CB52-0005-45F2-B9AA-35740BAA65E5}"/>
              </a:ext>
            </a:extLst>
          </p:cNvPr>
          <p:cNvSpPr>
            <a:spLocks xmlns:a="http://schemas.openxmlformats.org/drawingml/2006/main" noGrp="1"/>
          </p:cNvSpPr>
          <p:nvPr/>
        </p:nvSpPr>
        <p:spPr>
          <a:xfrm xmlns:a="http://schemas.openxmlformats.org/drawingml/2006/main">
            <a:off x="742950" y="742950"/>
            <a:ext cx="942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1412"/>
                </a:solidFill>
              </a:defRPr>
            </a:pPr>
            <a:r>
              <a:rPr sz="2925" b="1">
                <a:solidFill>
                  <a:srgbClr val="101412"/>
                </a:solidFill>
              </a:rPr>
              <a:t>State of the Art</a:t>
            </a:r>
          </a:p>
        </p:txBody>
      </p:sp>
      <p:sp>
        <p:nvSpPr>
          <p:cNvPr id="3" name="">
            <a:extLst xmlns:a="http://schemas.openxmlformats.org/drawingml/2006/main">
              <a:ext uri="{FF2B5EF4-FFF2-40B4-BE49-F238E27FC236}">
                <a16:creationId xmlns:a16="http://schemas.microsoft.com/office/drawing/2014/main" id="{ED18B345-F2CB-4BFA-A276-7FF2DBA303B4}"/>
              </a:ext>
            </a:extLst>
          </p:cNvPr>
          <p:cNvSpPr>
            <a:spLocks xmlns:a="http://schemas.openxmlformats.org/drawingml/2006/main" noGrp="1"/>
          </p:cNvSpPr>
          <p:nvPr/>
        </p:nvSpPr>
        <p:spPr>
          <a:xfrm xmlns:a="http://schemas.openxmlformats.org/drawingml/2006/main">
            <a:off x="742950" y="1390650"/>
            <a:ext cx="10706100" cy="19050"/>
          </a:xfrm>
          <a:prstGeom xmlns:a="http://schemas.openxmlformats.org/drawingml/2006/main" prst="rect">
            <a:avLst/>
          </a:prstGeom>
          <a:solidFill xmlns:a="http://schemas.openxmlformats.org/drawingml/2006/main">
            <a:srgbClr val="C8D3C5"/>
          </a:solidFill>
          <a:ln xmlns:a="http://schemas.openxmlformats.org/drawingml/2006/main" w="0">
            <a:solidFill>
              <a:srgbClr val="C8D3C5"/>
            </a:solidFill>
            <a:prstDash val="solid"/>
          </a:ln>
        </p:spPr>
      </p:sp>
      <p:sp>
        <p:nvSpPr>
          <p:cNvPr id="4" name="">
            <a:extLst xmlns:a="http://schemas.openxmlformats.org/drawingml/2006/main">
              <a:ext uri="{FF2B5EF4-FFF2-40B4-BE49-F238E27FC236}">
                <a16:creationId xmlns:a16="http://schemas.microsoft.com/office/drawing/2014/main" id="{42BCB3C7-2848-490C-8998-11441E26C101}"/>
              </a:ext>
            </a:extLst>
          </p:cNvPr>
          <p:cNvSpPr>
            <a:spLocks xmlns:a="http://schemas.openxmlformats.org/drawingml/2006/main" noGrp="1"/>
          </p:cNvSpPr>
          <p:nvPr/>
        </p:nvSpPr>
        <p:spPr>
          <a:xfrm xmlns:a="http://schemas.openxmlformats.org/drawingml/2006/main">
            <a:off x="742950" y="1390650"/>
            <a:ext cx="1466850" cy="47625"/>
          </a:xfrm>
          <a:prstGeom xmlns:a="http://schemas.openxmlformats.org/drawingml/2006/main" prst="rect">
            <a:avLst/>
          </a:prstGeom>
          <a:solidFill xmlns:a="http://schemas.openxmlformats.org/drawingml/2006/main">
            <a:srgbClr val="2F7D4A"/>
          </a:solidFill>
          <a:ln xmlns:a="http://schemas.openxmlformats.org/drawingml/2006/main" w="0">
            <a:solidFill>
              <a:srgbClr val="2F7D4A"/>
            </a:solidFill>
            <a:prstDash val="solid"/>
          </a:ln>
        </p:spPr>
      </p:sp>
      <p:sp>
        <p:nvSpPr>
          <p:cNvPr id="5" name="">
            <a:extLst xmlns:a="http://schemas.openxmlformats.org/drawingml/2006/main">
              <a:ext uri="{FF2B5EF4-FFF2-40B4-BE49-F238E27FC236}">
                <a16:creationId xmlns:a16="http://schemas.microsoft.com/office/drawing/2014/main" id="{BF2BD6D4-2619-40DF-8D1F-B7C756F51B10}"/>
              </a:ext>
            </a:extLst>
          </p:cNvPr>
          <p:cNvSpPr>
            <a:spLocks xmlns:a="http://schemas.openxmlformats.org/drawingml/2006/main" noGrp="1"/>
          </p:cNvSpPr>
          <p:nvPr/>
        </p:nvSpPr>
        <p:spPr>
          <a:xfrm xmlns:a="http://schemas.openxmlformats.org/drawingml/2006/main">
            <a:off x="571500" y="1828800"/>
            <a:ext cx="11049000" cy="1619250"/>
          </a:xfrm>
          <a:prstGeom xmlns:a="http://schemas.openxmlformats.org/drawingml/2006/main" prst="rect">
            <a:avLst/>
          </a:prstGeom>
          <a:solidFill xmlns:a="http://schemas.openxmlformats.org/drawingml/2006/main">
            <a:srgbClr val="F5F8F3"/>
          </a:solidFill>
          <a:ln xmlns:a="http://schemas.openxmlformats.org/drawingml/2006/main" w="9525">
            <a:solidFill>
              <a:srgbClr val="C8D3C5"/>
            </a:solidFill>
            <a:prstDash val="solid"/>
          </a:ln>
        </p:spPr>
      </p:sp>
      <p:sp>
        <p:nvSpPr>
          <p:cNvPr id="6" name="">
            <a:extLst xmlns:a="http://schemas.openxmlformats.org/drawingml/2006/main">
              <a:ext uri="{FF2B5EF4-FFF2-40B4-BE49-F238E27FC236}">
                <a16:creationId xmlns:a16="http://schemas.microsoft.com/office/drawing/2014/main" id="{43E46452-BC01-4BCA-A365-AB919BE6136B}"/>
              </a:ext>
            </a:extLst>
          </p:cNvPr>
          <p:cNvSpPr>
            <a:spLocks xmlns:a="http://schemas.openxmlformats.org/drawingml/2006/main" noGrp="1"/>
          </p:cNvSpPr>
          <p:nvPr/>
        </p:nvSpPr>
        <p:spPr>
          <a:xfrm xmlns:a="http://schemas.openxmlformats.org/drawingml/2006/main">
            <a:off x="742950" y="200025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01412"/>
                </a:solidFill>
              </a:defRPr>
            </a:pPr>
            <a:r>
              <a:rPr sz="1575">
                <a:solidFill>
                  <a:srgbClr val="101412"/>
                </a:solidFill>
              </a:rPr>
              <a:t>The state of the art in smart agriculture includes IoT based field monitoring, remote sensing, cloud platforms, big-data analytics, machine learning, and digital twin architectures. IoT research focuses on collecting real-time data from the farm, while machine learning research focuses on prediction tasks such as disease detection, yield estimation, irrigation scheduling, and crop classification.</a:t>
            </a:r>
          </a:p>
        </p:txBody>
      </p:sp>
      <p:sp>
        <p:nvSpPr>
          <p:cNvPr id="7" name="">
            <a:extLst xmlns:a="http://schemas.openxmlformats.org/drawingml/2006/main">
              <a:ext uri="{FF2B5EF4-FFF2-40B4-BE49-F238E27FC236}">
                <a16:creationId xmlns:a16="http://schemas.microsoft.com/office/drawing/2014/main" id="{00ABF468-F7D7-448A-9054-D645D791FED0}"/>
              </a:ext>
            </a:extLst>
          </p:cNvPr>
          <p:cNvSpPr>
            <a:spLocks xmlns:a="http://schemas.openxmlformats.org/drawingml/2006/main" noGrp="1"/>
          </p:cNvSpPr>
          <p:nvPr/>
        </p:nvSpPr>
        <p:spPr>
          <a:xfrm xmlns:a="http://schemas.openxmlformats.org/drawingml/2006/main">
            <a:off x="742950" y="360045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01412"/>
                </a:solidFill>
              </a:defRPr>
            </a:pPr>
            <a:r>
              <a:rPr sz="1575">
                <a:solidFill>
                  <a:srgbClr val="101412"/>
                </a:solidFill>
              </a:rPr>
              <a:t>Digital twin research brings these components together by creating a synchronized virtual representation of the physical agricultural system. Studies on agricultural digital twins explain that a useful twin should not only store data, but also support simulation, prediction, feedback, and decision making. This makes the digital twin approach more suitable for integrated farm intelligence than isolated sensor dashboards.</a:t>
            </a:r>
          </a:p>
        </p:txBody>
      </p:sp>
      <p:sp>
        <p:nvSpPr>
          <p:cNvPr id="8" name="">
            <a:extLst xmlns:a="http://schemas.openxmlformats.org/drawingml/2006/main">
              <a:ext uri="{FF2B5EF4-FFF2-40B4-BE49-F238E27FC236}">
                <a16:creationId xmlns:a16="http://schemas.microsoft.com/office/drawing/2014/main" id="{5019EC6A-9C8A-421A-9E4E-F5105AE2640A}"/>
              </a:ext>
            </a:extLst>
          </p:cNvPr>
          <p:cNvSpPr>
            <a:spLocks xmlns:a="http://schemas.openxmlformats.org/drawingml/2006/main" noGrp="1"/>
          </p:cNvSpPr>
          <p:nvPr/>
        </p:nvSpPr>
        <p:spPr>
          <a:xfrm xmlns:a="http://schemas.openxmlformats.org/drawingml/2006/main">
            <a:off x="8382000" y="6343650"/>
            <a:ext cx="3067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C55"/>
                </a:solidFill>
              </a:defRPr>
            </a:pPr>
            <a:r>
              <a:rPr sz="1050">
                <a:solidFill>
                  <a:srgbClr val="4F5C55"/>
                </a:solidFill>
              </a:rPr>
              <a:t>Agro Twin Literature Review | 4</a:t>
            </a:r>
          </a:p>
        </p:txBody>
      </p:sp>
    </p:spTree>
    <p:extLst>
      <p:ext uri="{BB962C8B-B14F-4D97-AF65-F5344CB8AC3E}">
        <p14:creationId xmlns:p14="http://schemas.microsoft.com/office/powerpoint/2010/main" val="3289592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4E3F96-8B03-4833-A574-BF67236A0056}"/>
              </a:ext>
            </a:extLst>
          </p:cNvPr>
          <p:cNvSpPr>
            <a:spLocks xmlns:a="http://schemas.openxmlformats.org/drawingml/2006/main" noGrp="1"/>
          </p:cNvSpPr>
          <p:nvPr/>
        </p:nvSpPr>
        <p:spPr>
          <a:xfrm xmlns:a="http://schemas.openxmlformats.org/drawingml/2006/main">
            <a:off x="74295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A"/>
                </a:solidFill>
              </a:defRPr>
            </a:pPr>
            <a:r>
              <a:rPr sz="1050" b="1">
                <a:solidFill>
                  <a:srgbClr val="2F7D4A"/>
                </a:solidFill>
              </a:rPr>
              <a:t>CURRENT PRACTICE</a:t>
            </a:r>
          </a:p>
        </p:txBody>
      </p:sp>
      <p:sp>
        <p:nvSpPr>
          <p:cNvPr id="2" name="">
            <a:extLst xmlns:a="http://schemas.openxmlformats.org/drawingml/2006/main">
              <a:ext uri="{FF2B5EF4-FFF2-40B4-BE49-F238E27FC236}">
                <a16:creationId xmlns:a16="http://schemas.microsoft.com/office/drawing/2014/main" id="{4E89CF61-5270-4229-9E74-E331955AE0FD}"/>
              </a:ext>
            </a:extLst>
          </p:cNvPr>
          <p:cNvSpPr>
            <a:spLocks xmlns:a="http://schemas.openxmlformats.org/drawingml/2006/main" noGrp="1"/>
          </p:cNvSpPr>
          <p:nvPr/>
        </p:nvSpPr>
        <p:spPr>
          <a:xfrm xmlns:a="http://schemas.openxmlformats.org/drawingml/2006/main">
            <a:off x="742950" y="742950"/>
            <a:ext cx="942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1412"/>
                </a:solidFill>
              </a:defRPr>
            </a:pPr>
            <a:r>
              <a:rPr sz="2925" b="1">
                <a:solidFill>
                  <a:srgbClr val="101412"/>
                </a:solidFill>
              </a:rPr>
              <a:t>Existing System</a:t>
            </a:r>
          </a:p>
        </p:txBody>
      </p:sp>
      <p:sp>
        <p:nvSpPr>
          <p:cNvPr id="3" name="">
            <a:extLst xmlns:a="http://schemas.openxmlformats.org/drawingml/2006/main">
              <a:ext uri="{FF2B5EF4-FFF2-40B4-BE49-F238E27FC236}">
                <a16:creationId xmlns:a16="http://schemas.microsoft.com/office/drawing/2014/main" id="{0CE6D886-BDFD-428E-AE9A-6D2A5C31ADC2}"/>
              </a:ext>
            </a:extLst>
          </p:cNvPr>
          <p:cNvSpPr>
            <a:spLocks xmlns:a="http://schemas.openxmlformats.org/drawingml/2006/main" noGrp="1"/>
          </p:cNvSpPr>
          <p:nvPr/>
        </p:nvSpPr>
        <p:spPr>
          <a:xfrm xmlns:a="http://schemas.openxmlformats.org/drawingml/2006/main">
            <a:off x="742950" y="1390650"/>
            <a:ext cx="10706100" cy="19050"/>
          </a:xfrm>
          <a:prstGeom xmlns:a="http://schemas.openxmlformats.org/drawingml/2006/main" prst="rect">
            <a:avLst/>
          </a:prstGeom>
          <a:solidFill xmlns:a="http://schemas.openxmlformats.org/drawingml/2006/main">
            <a:srgbClr val="C8D3C5"/>
          </a:solidFill>
          <a:ln xmlns:a="http://schemas.openxmlformats.org/drawingml/2006/main" w="0">
            <a:solidFill>
              <a:srgbClr val="C8D3C5"/>
            </a:solidFill>
            <a:prstDash val="solid"/>
          </a:ln>
        </p:spPr>
      </p:sp>
      <p:sp>
        <p:nvSpPr>
          <p:cNvPr id="4" name="">
            <a:extLst xmlns:a="http://schemas.openxmlformats.org/drawingml/2006/main">
              <a:ext uri="{FF2B5EF4-FFF2-40B4-BE49-F238E27FC236}">
                <a16:creationId xmlns:a16="http://schemas.microsoft.com/office/drawing/2014/main" id="{C40D0E9E-BE73-4247-AA55-EC14741ABA1A}"/>
              </a:ext>
            </a:extLst>
          </p:cNvPr>
          <p:cNvSpPr>
            <a:spLocks xmlns:a="http://schemas.openxmlformats.org/drawingml/2006/main" noGrp="1"/>
          </p:cNvSpPr>
          <p:nvPr/>
        </p:nvSpPr>
        <p:spPr>
          <a:xfrm xmlns:a="http://schemas.openxmlformats.org/drawingml/2006/main">
            <a:off x="742950" y="1390650"/>
            <a:ext cx="1466850" cy="47625"/>
          </a:xfrm>
          <a:prstGeom xmlns:a="http://schemas.openxmlformats.org/drawingml/2006/main" prst="rect">
            <a:avLst/>
          </a:prstGeom>
          <a:solidFill xmlns:a="http://schemas.openxmlformats.org/drawingml/2006/main">
            <a:srgbClr val="2F7D4A"/>
          </a:solidFill>
          <a:ln xmlns:a="http://schemas.openxmlformats.org/drawingml/2006/main" w="0">
            <a:solidFill>
              <a:srgbClr val="2F7D4A"/>
            </a:solidFill>
            <a:prstDash val="solid"/>
          </a:ln>
        </p:spPr>
      </p:sp>
      <p:sp>
        <p:nvSpPr>
          <p:cNvPr id="5" name="">
            <a:extLst xmlns:a="http://schemas.openxmlformats.org/drawingml/2006/main">
              <a:ext uri="{FF2B5EF4-FFF2-40B4-BE49-F238E27FC236}">
                <a16:creationId xmlns:a16="http://schemas.microsoft.com/office/drawing/2014/main" id="{7C8A6F85-F56D-42B2-BA21-FB19EE02C2C6}"/>
              </a:ext>
            </a:extLst>
          </p:cNvPr>
          <p:cNvSpPr>
            <a:spLocks xmlns:a="http://schemas.openxmlformats.org/drawingml/2006/main" noGrp="1"/>
          </p:cNvSpPr>
          <p:nvPr/>
        </p:nvSpPr>
        <p:spPr>
          <a:xfrm xmlns:a="http://schemas.openxmlformats.org/drawingml/2006/main">
            <a:off x="571500" y="1828800"/>
            <a:ext cx="11049000" cy="1619250"/>
          </a:xfrm>
          <a:prstGeom xmlns:a="http://schemas.openxmlformats.org/drawingml/2006/main" prst="rect">
            <a:avLst/>
          </a:prstGeom>
          <a:solidFill xmlns:a="http://schemas.openxmlformats.org/drawingml/2006/main">
            <a:srgbClr val="F5F8F3"/>
          </a:solidFill>
          <a:ln xmlns:a="http://schemas.openxmlformats.org/drawingml/2006/main" w="9525">
            <a:solidFill>
              <a:srgbClr val="C8D3C5"/>
            </a:solidFill>
            <a:prstDash val="solid"/>
          </a:ln>
        </p:spPr>
      </p:sp>
      <p:sp>
        <p:nvSpPr>
          <p:cNvPr id="6" name="">
            <a:extLst xmlns:a="http://schemas.openxmlformats.org/drawingml/2006/main">
              <a:ext uri="{FF2B5EF4-FFF2-40B4-BE49-F238E27FC236}">
                <a16:creationId xmlns:a16="http://schemas.microsoft.com/office/drawing/2014/main" id="{EB4DD5D6-B829-4EE1-ACC1-D1AFCF6B53E0}"/>
              </a:ext>
            </a:extLst>
          </p:cNvPr>
          <p:cNvSpPr>
            <a:spLocks xmlns:a="http://schemas.openxmlformats.org/drawingml/2006/main" noGrp="1"/>
          </p:cNvSpPr>
          <p:nvPr/>
        </p:nvSpPr>
        <p:spPr>
          <a:xfrm xmlns:a="http://schemas.openxmlformats.org/drawingml/2006/main">
            <a:off x="742950" y="200025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01412"/>
                </a:solidFill>
              </a:defRPr>
            </a:pPr>
            <a:r>
              <a:rPr sz="1575">
                <a:solidFill>
                  <a:srgbClr val="101412"/>
                </a:solidFill>
              </a:rPr>
              <a:t>Existing smart farming systems commonly use sensors to measure soil moisture, temperature, humidity, pH, and other environmental variables. Some systems also use drone or satellite imagery to observe crop health over larger areas. These systems are useful because they reduce manual observation and provide farmers with more frequent information about field conditions.</a:t>
            </a:r>
          </a:p>
        </p:txBody>
      </p:sp>
      <p:sp>
        <p:nvSpPr>
          <p:cNvPr id="7" name="">
            <a:extLst xmlns:a="http://schemas.openxmlformats.org/drawingml/2006/main">
              <a:ext uri="{FF2B5EF4-FFF2-40B4-BE49-F238E27FC236}">
                <a16:creationId xmlns:a16="http://schemas.microsoft.com/office/drawing/2014/main" id="{87F73152-7038-4C40-8A62-4AC17FC95241}"/>
              </a:ext>
            </a:extLst>
          </p:cNvPr>
          <p:cNvSpPr>
            <a:spLocks xmlns:a="http://schemas.openxmlformats.org/drawingml/2006/main" noGrp="1"/>
          </p:cNvSpPr>
          <p:nvPr/>
        </p:nvSpPr>
        <p:spPr>
          <a:xfrm xmlns:a="http://schemas.openxmlformats.org/drawingml/2006/main">
            <a:off x="742950" y="360045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01412"/>
                </a:solidFill>
              </a:defRPr>
            </a:pPr>
            <a:r>
              <a:rPr sz="1575">
                <a:solidFill>
                  <a:srgbClr val="101412"/>
                </a:solidFill>
              </a:rPr>
              <a:t>Machine learning based systems are also widely used for crop disease detection, yield prediction, irrigation forecasting, and advisory support. Although these systems improve individual tasks, many of them operate separately. A sensor system may collect data without deep prediction, while a prediction model may work without a continuously updated field model. This separation limits the intelligence of the overall farming system.</a:t>
            </a:r>
          </a:p>
        </p:txBody>
      </p:sp>
      <p:sp>
        <p:nvSpPr>
          <p:cNvPr id="8" name="">
            <a:extLst xmlns:a="http://schemas.openxmlformats.org/drawingml/2006/main">
              <a:ext uri="{FF2B5EF4-FFF2-40B4-BE49-F238E27FC236}">
                <a16:creationId xmlns:a16="http://schemas.microsoft.com/office/drawing/2014/main" id="{6C8B5376-2166-46DC-8D1A-649B792720F6}"/>
              </a:ext>
            </a:extLst>
          </p:cNvPr>
          <p:cNvSpPr>
            <a:spLocks xmlns:a="http://schemas.openxmlformats.org/drawingml/2006/main" noGrp="1"/>
          </p:cNvSpPr>
          <p:nvPr/>
        </p:nvSpPr>
        <p:spPr>
          <a:xfrm xmlns:a="http://schemas.openxmlformats.org/drawingml/2006/main">
            <a:off x="8382000" y="6343650"/>
            <a:ext cx="3067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C55"/>
                </a:solidFill>
              </a:defRPr>
            </a:pPr>
            <a:r>
              <a:rPr sz="1050">
                <a:solidFill>
                  <a:srgbClr val="4F5C55"/>
                </a:solidFill>
              </a:rPr>
              <a:t>Agro Twin Literature Review | 5</a:t>
            </a:r>
          </a:p>
        </p:txBody>
      </p:sp>
    </p:spTree>
    <p:extLst>
      <p:ext uri="{BB962C8B-B14F-4D97-AF65-F5344CB8AC3E}">
        <p14:creationId xmlns:p14="http://schemas.microsoft.com/office/powerpoint/2010/main" val="12708876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564D67-A01B-4CBE-B986-2EDC2BB3435F}"/>
              </a:ext>
            </a:extLst>
          </p:cNvPr>
          <p:cNvSpPr>
            <a:spLocks xmlns:a="http://schemas.openxmlformats.org/drawingml/2006/main" noGrp="1"/>
          </p:cNvSpPr>
          <p:nvPr/>
        </p:nvSpPr>
        <p:spPr>
          <a:xfrm xmlns:a="http://schemas.openxmlformats.org/drawingml/2006/main">
            <a:off x="74295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A"/>
                </a:solidFill>
              </a:defRPr>
            </a:pPr>
            <a:r>
              <a:rPr sz="1050" b="1">
                <a:solidFill>
                  <a:srgbClr val="2F7D4A"/>
                </a:solidFill>
              </a:rPr>
              <a:t>RESEARCH GAP</a:t>
            </a:r>
          </a:p>
        </p:txBody>
      </p:sp>
      <p:sp>
        <p:nvSpPr>
          <p:cNvPr id="2" name="">
            <a:extLst xmlns:a="http://schemas.openxmlformats.org/drawingml/2006/main">
              <a:ext uri="{FF2B5EF4-FFF2-40B4-BE49-F238E27FC236}">
                <a16:creationId xmlns:a16="http://schemas.microsoft.com/office/drawing/2014/main" id="{7EE4C4B4-1B94-4A92-ACBE-B059D62633A3}"/>
              </a:ext>
            </a:extLst>
          </p:cNvPr>
          <p:cNvSpPr>
            <a:spLocks xmlns:a="http://schemas.openxmlformats.org/drawingml/2006/main" noGrp="1"/>
          </p:cNvSpPr>
          <p:nvPr/>
        </p:nvSpPr>
        <p:spPr>
          <a:xfrm xmlns:a="http://schemas.openxmlformats.org/drawingml/2006/main">
            <a:off x="742950" y="742950"/>
            <a:ext cx="942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1412"/>
                </a:solidFill>
              </a:defRPr>
            </a:pPr>
            <a:r>
              <a:rPr sz="2925" b="1">
                <a:solidFill>
                  <a:srgbClr val="101412"/>
                </a:solidFill>
              </a:rPr>
              <a:t>Gaps Identified</a:t>
            </a:r>
          </a:p>
        </p:txBody>
      </p:sp>
      <p:sp>
        <p:nvSpPr>
          <p:cNvPr id="3" name="">
            <a:extLst xmlns:a="http://schemas.openxmlformats.org/drawingml/2006/main">
              <a:ext uri="{FF2B5EF4-FFF2-40B4-BE49-F238E27FC236}">
                <a16:creationId xmlns:a16="http://schemas.microsoft.com/office/drawing/2014/main" id="{C7991596-C230-4E20-85BA-1072C60DC33F}"/>
              </a:ext>
            </a:extLst>
          </p:cNvPr>
          <p:cNvSpPr>
            <a:spLocks xmlns:a="http://schemas.openxmlformats.org/drawingml/2006/main" noGrp="1"/>
          </p:cNvSpPr>
          <p:nvPr/>
        </p:nvSpPr>
        <p:spPr>
          <a:xfrm xmlns:a="http://schemas.openxmlformats.org/drawingml/2006/main">
            <a:off x="742950" y="1390650"/>
            <a:ext cx="10706100" cy="19050"/>
          </a:xfrm>
          <a:prstGeom xmlns:a="http://schemas.openxmlformats.org/drawingml/2006/main" prst="rect">
            <a:avLst/>
          </a:prstGeom>
          <a:solidFill xmlns:a="http://schemas.openxmlformats.org/drawingml/2006/main">
            <a:srgbClr val="C8D3C5"/>
          </a:solidFill>
          <a:ln xmlns:a="http://schemas.openxmlformats.org/drawingml/2006/main" w="0">
            <a:solidFill>
              <a:srgbClr val="C8D3C5"/>
            </a:solidFill>
            <a:prstDash val="solid"/>
          </a:ln>
        </p:spPr>
      </p:sp>
      <p:sp>
        <p:nvSpPr>
          <p:cNvPr id="4" name="">
            <a:extLst xmlns:a="http://schemas.openxmlformats.org/drawingml/2006/main">
              <a:ext uri="{FF2B5EF4-FFF2-40B4-BE49-F238E27FC236}">
                <a16:creationId xmlns:a16="http://schemas.microsoft.com/office/drawing/2014/main" id="{19F7FD8D-4EEB-426E-906A-97E2943BA8B5}"/>
              </a:ext>
            </a:extLst>
          </p:cNvPr>
          <p:cNvSpPr>
            <a:spLocks xmlns:a="http://schemas.openxmlformats.org/drawingml/2006/main" noGrp="1"/>
          </p:cNvSpPr>
          <p:nvPr/>
        </p:nvSpPr>
        <p:spPr>
          <a:xfrm xmlns:a="http://schemas.openxmlformats.org/drawingml/2006/main">
            <a:off x="742950" y="1390650"/>
            <a:ext cx="1466850" cy="47625"/>
          </a:xfrm>
          <a:prstGeom xmlns:a="http://schemas.openxmlformats.org/drawingml/2006/main" prst="rect">
            <a:avLst/>
          </a:prstGeom>
          <a:solidFill xmlns:a="http://schemas.openxmlformats.org/drawingml/2006/main">
            <a:srgbClr val="2F7D4A"/>
          </a:solidFill>
          <a:ln xmlns:a="http://schemas.openxmlformats.org/drawingml/2006/main" w="0">
            <a:solidFill>
              <a:srgbClr val="2F7D4A"/>
            </a:solidFill>
            <a:prstDash val="solid"/>
          </a:ln>
        </p:spPr>
      </p:sp>
      <p:sp>
        <p:nvSpPr>
          <p:cNvPr id="5" name="">
            <a:extLst xmlns:a="http://schemas.openxmlformats.org/drawingml/2006/main">
              <a:ext uri="{FF2B5EF4-FFF2-40B4-BE49-F238E27FC236}">
                <a16:creationId xmlns:a16="http://schemas.microsoft.com/office/drawing/2014/main" id="{B5834B3E-CA39-4E4A-A365-354DE353790C}"/>
              </a:ext>
            </a:extLst>
          </p:cNvPr>
          <p:cNvSpPr>
            <a:spLocks xmlns:a="http://schemas.openxmlformats.org/drawingml/2006/main" noGrp="1"/>
          </p:cNvSpPr>
          <p:nvPr/>
        </p:nvSpPr>
        <p:spPr>
          <a:xfrm xmlns:a="http://schemas.openxmlformats.org/drawingml/2006/main">
            <a:off x="571500" y="1828800"/>
            <a:ext cx="11049000" cy="1619250"/>
          </a:xfrm>
          <a:prstGeom xmlns:a="http://schemas.openxmlformats.org/drawingml/2006/main" prst="rect">
            <a:avLst/>
          </a:prstGeom>
          <a:solidFill xmlns:a="http://schemas.openxmlformats.org/drawingml/2006/main">
            <a:srgbClr val="F5F8F3"/>
          </a:solidFill>
          <a:ln xmlns:a="http://schemas.openxmlformats.org/drawingml/2006/main" w="9525">
            <a:solidFill>
              <a:srgbClr val="C8D3C5"/>
            </a:solidFill>
            <a:prstDash val="solid"/>
          </a:ln>
        </p:spPr>
      </p:sp>
      <p:sp>
        <p:nvSpPr>
          <p:cNvPr id="6" name="">
            <a:extLst xmlns:a="http://schemas.openxmlformats.org/drawingml/2006/main">
              <a:ext uri="{FF2B5EF4-FFF2-40B4-BE49-F238E27FC236}">
                <a16:creationId xmlns:a16="http://schemas.microsoft.com/office/drawing/2014/main" id="{B91790C9-EE8B-4F64-B186-6D11EC38EF56}"/>
              </a:ext>
            </a:extLst>
          </p:cNvPr>
          <p:cNvSpPr>
            <a:spLocks xmlns:a="http://schemas.openxmlformats.org/drawingml/2006/main" noGrp="1"/>
          </p:cNvSpPr>
          <p:nvPr/>
        </p:nvSpPr>
        <p:spPr>
          <a:xfrm xmlns:a="http://schemas.openxmlformats.org/drawingml/2006/main">
            <a:off x="742950" y="200025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01412"/>
                </a:solidFill>
              </a:defRPr>
            </a:pPr>
            <a:r>
              <a:rPr sz="1575">
                <a:solidFill>
                  <a:srgbClr val="101412"/>
                </a:solidFill>
              </a:rPr>
              <a:t>The literature shows that a major gap in existing systems is the lack of integration between data collection, real-time synchronization, prediction, and decision support. Many solutions handle only one part of the problem, such as monitoring soil moisture or detecting crop disease. As a result, the farmer may receive data but not a complete understanding of the current field condition and the required action.</a:t>
            </a:r>
          </a:p>
        </p:txBody>
      </p:sp>
      <p:sp>
        <p:nvSpPr>
          <p:cNvPr id="7" name="">
            <a:extLst xmlns:a="http://schemas.openxmlformats.org/drawingml/2006/main">
              <a:ext uri="{FF2B5EF4-FFF2-40B4-BE49-F238E27FC236}">
                <a16:creationId xmlns:a16="http://schemas.microsoft.com/office/drawing/2014/main" id="{CAB6D41B-8E84-42F6-A8E2-DE4176BE3C18}"/>
              </a:ext>
            </a:extLst>
          </p:cNvPr>
          <p:cNvSpPr>
            <a:spLocks xmlns:a="http://schemas.openxmlformats.org/drawingml/2006/main" noGrp="1"/>
          </p:cNvSpPr>
          <p:nvPr/>
        </p:nvSpPr>
        <p:spPr>
          <a:xfrm xmlns:a="http://schemas.openxmlformats.org/drawingml/2006/main">
            <a:off x="742950" y="360045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01412"/>
                </a:solidFill>
              </a:defRPr>
            </a:pPr>
            <a:r>
              <a:rPr sz="1575">
                <a:solidFill>
                  <a:srgbClr val="101412"/>
                </a:solidFill>
              </a:rPr>
              <a:t>Another important gap is explainability and local adaptation. Farmers need recommendations that are understandable, practical, and suitable for their crop, soil, climate, and available resources. Systems that depend heavily on connectivity, costly hardware, or generic models may not work well for small and medium farms. Therefore, a more unified, adaptive, and farmer-oriented system is required.</a:t>
            </a:r>
          </a:p>
        </p:txBody>
      </p:sp>
      <p:sp>
        <p:nvSpPr>
          <p:cNvPr id="8" name="">
            <a:extLst xmlns:a="http://schemas.openxmlformats.org/drawingml/2006/main">
              <a:ext uri="{FF2B5EF4-FFF2-40B4-BE49-F238E27FC236}">
                <a16:creationId xmlns:a16="http://schemas.microsoft.com/office/drawing/2014/main" id="{F5991426-61DA-4AB8-A3FF-00CB52556F24}"/>
              </a:ext>
            </a:extLst>
          </p:cNvPr>
          <p:cNvSpPr>
            <a:spLocks xmlns:a="http://schemas.openxmlformats.org/drawingml/2006/main" noGrp="1"/>
          </p:cNvSpPr>
          <p:nvPr/>
        </p:nvSpPr>
        <p:spPr>
          <a:xfrm xmlns:a="http://schemas.openxmlformats.org/drawingml/2006/main">
            <a:off x="8382000" y="6343650"/>
            <a:ext cx="3067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C55"/>
                </a:solidFill>
              </a:defRPr>
            </a:pPr>
            <a:r>
              <a:rPr sz="1050">
                <a:solidFill>
                  <a:srgbClr val="4F5C55"/>
                </a:solidFill>
              </a:rPr>
              <a:t>Agro Twin Literature Review | 6</a:t>
            </a:r>
          </a:p>
        </p:txBody>
      </p:sp>
    </p:spTree>
    <p:extLst>
      <p:ext uri="{BB962C8B-B14F-4D97-AF65-F5344CB8AC3E}">
        <p14:creationId xmlns:p14="http://schemas.microsoft.com/office/powerpoint/2010/main" val="903564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3F456B-0DAF-4793-A898-6C3383AB355A}"/>
              </a:ext>
            </a:extLst>
          </p:cNvPr>
          <p:cNvSpPr>
            <a:spLocks xmlns:a="http://schemas.openxmlformats.org/drawingml/2006/main" noGrp="1"/>
          </p:cNvSpPr>
          <p:nvPr/>
        </p:nvSpPr>
        <p:spPr>
          <a:xfrm xmlns:a="http://schemas.openxmlformats.org/drawingml/2006/main">
            <a:off x="74295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A"/>
                </a:solidFill>
              </a:defRPr>
            </a:pPr>
            <a:r>
              <a:rPr sz="1050" b="1">
                <a:solidFill>
                  <a:srgbClr val="2F7D4A"/>
                </a:solidFill>
              </a:rPr>
              <a:t>AGRO TWIN</a:t>
            </a:r>
          </a:p>
        </p:txBody>
      </p:sp>
      <p:sp>
        <p:nvSpPr>
          <p:cNvPr id="2" name="">
            <a:extLst xmlns:a="http://schemas.openxmlformats.org/drawingml/2006/main">
              <a:ext uri="{FF2B5EF4-FFF2-40B4-BE49-F238E27FC236}">
                <a16:creationId xmlns:a16="http://schemas.microsoft.com/office/drawing/2014/main" id="{5744CA78-963F-47A8-B122-F692E87DB2B3}"/>
              </a:ext>
            </a:extLst>
          </p:cNvPr>
          <p:cNvSpPr>
            <a:spLocks xmlns:a="http://schemas.openxmlformats.org/drawingml/2006/main" noGrp="1"/>
          </p:cNvSpPr>
          <p:nvPr/>
        </p:nvSpPr>
        <p:spPr>
          <a:xfrm xmlns:a="http://schemas.openxmlformats.org/drawingml/2006/main">
            <a:off x="742950" y="742950"/>
            <a:ext cx="942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1412"/>
                </a:solidFill>
              </a:defRPr>
            </a:pPr>
            <a:r>
              <a:rPr sz="2925" b="1">
                <a:solidFill>
                  <a:srgbClr val="101412"/>
                </a:solidFill>
              </a:rPr>
              <a:t>Proposed System</a:t>
            </a:r>
          </a:p>
        </p:txBody>
      </p:sp>
      <p:sp>
        <p:nvSpPr>
          <p:cNvPr id="3" name="">
            <a:extLst xmlns:a="http://schemas.openxmlformats.org/drawingml/2006/main">
              <a:ext uri="{FF2B5EF4-FFF2-40B4-BE49-F238E27FC236}">
                <a16:creationId xmlns:a16="http://schemas.microsoft.com/office/drawing/2014/main" id="{84E1825A-3234-45F4-B641-3459499A6E99}"/>
              </a:ext>
            </a:extLst>
          </p:cNvPr>
          <p:cNvSpPr>
            <a:spLocks xmlns:a="http://schemas.openxmlformats.org/drawingml/2006/main" noGrp="1"/>
          </p:cNvSpPr>
          <p:nvPr/>
        </p:nvSpPr>
        <p:spPr>
          <a:xfrm xmlns:a="http://schemas.openxmlformats.org/drawingml/2006/main">
            <a:off x="742950" y="1390650"/>
            <a:ext cx="10706100" cy="19050"/>
          </a:xfrm>
          <a:prstGeom xmlns:a="http://schemas.openxmlformats.org/drawingml/2006/main" prst="rect">
            <a:avLst/>
          </a:prstGeom>
          <a:solidFill xmlns:a="http://schemas.openxmlformats.org/drawingml/2006/main">
            <a:srgbClr val="C8D3C5"/>
          </a:solidFill>
          <a:ln xmlns:a="http://schemas.openxmlformats.org/drawingml/2006/main" w="0">
            <a:solidFill>
              <a:srgbClr val="C8D3C5"/>
            </a:solidFill>
            <a:prstDash val="solid"/>
          </a:ln>
        </p:spPr>
      </p:sp>
      <p:sp>
        <p:nvSpPr>
          <p:cNvPr id="4" name="">
            <a:extLst xmlns:a="http://schemas.openxmlformats.org/drawingml/2006/main">
              <a:ext uri="{FF2B5EF4-FFF2-40B4-BE49-F238E27FC236}">
                <a16:creationId xmlns:a16="http://schemas.microsoft.com/office/drawing/2014/main" id="{DE74AD07-CC45-48BE-A150-B79B5A34B3CF}"/>
              </a:ext>
            </a:extLst>
          </p:cNvPr>
          <p:cNvSpPr>
            <a:spLocks xmlns:a="http://schemas.openxmlformats.org/drawingml/2006/main" noGrp="1"/>
          </p:cNvSpPr>
          <p:nvPr/>
        </p:nvSpPr>
        <p:spPr>
          <a:xfrm xmlns:a="http://schemas.openxmlformats.org/drawingml/2006/main">
            <a:off x="742950" y="1390650"/>
            <a:ext cx="1466850" cy="47625"/>
          </a:xfrm>
          <a:prstGeom xmlns:a="http://schemas.openxmlformats.org/drawingml/2006/main" prst="rect">
            <a:avLst/>
          </a:prstGeom>
          <a:solidFill xmlns:a="http://schemas.openxmlformats.org/drawingml/2006/main">
            <a:srgbClr val="2F7D4A"/>
          </a:solidFill>
          <a:ln xmlns:a="http://schemas.openxmlformats.org/drawingml/2006/main" w="0">
            <a:solidFill>
              <a:srgbClr val="2F7D4A"/>
            </a:solidFill>
            <a:prstDash val="solid"/>
          </a:ln>
        </p:spPr>
      </p:sp>
      <p:sp>
        <p:nvSpPr>
          <p:cNvPr id="5" name="">
            <a:extLst xmlns:a="http://schemas.openxmlformats.org/drawingml/2006/main">
              <a:ext uri="{FF2B5EF4-FFF2-40B4-BE49-F238E27FC236}">
                <a16:creationId xmlns:a16="http://schemas.microsoft.com/office/drawing/2014/main" id="{42CD6A73-9B2B-48FA-A181-E530C6D27739}"/>
              </a:ext>
            </a:extLst>
          </p:cNvPr>
          <p:cNvSpPr>
            <a:spLocks xmlns:a="http://schemas.openxmlformats.org/drawingml/2006/main" noGrp="1"/>
          </p:cNvSpPr>
          <p:nvPr/>
        </p:nvSpPr>
        <p:spPr>
          <a:xfrm xmlns:a="http://schemas.openxmlformats.org/drawingml/2006/main">
            <a:off x="571500" y="1828800"/>
            <a:ext cx="11049000" cy="1619250"/>
          </a:xfrm>
          <a:prstGeom xmlns:a="http://schemas.openxmlformats.org/drawingml/2006/main" prst="rect">
            <a:avLst/>
          </a:prstGeom>
          <a:solidFill xmlns:a="http://schemas.openxmlformats.org/drawingml/2006/main">
            <a:srgbClr val="F5F8F3"/>
          </a:solidFill>
          <a:ln xmlns:a="http://schemas.openxmlformats.org/drawingml/2006/main" w="9525">
            <a:solidFill>
              <a:srgbClr val="C8D3C5"/>
            </a:solidFill>
            <a:prstDash val="solid"/>
          </a:ln>
        </p:spPr>
      </p:sp>
      <p:sp>
        <p:nvSpPr>
          <p:cNvPr id="6" name="">
            <a:extLst xmlns:a="http://schemas.openxmlformats.org/drawingml/2006/main">
              <a:ext uri="{FF2B5EF4-FFF2-40B4-BE49-F238E27FC236}">
                <a16:creationId xmlns:a16="http://schemas.microsoft.com/office/drawing/2014/main" id="{7060D6E2-9A53-435D-9FEE-70891A0F3888}"/>
              </a:ext>
            </a:extLst>
          </p:cNvPr>
          <p:cNvSpPr>
            <a:spLocks xmlns:a="http://schemas.openxmlformats.org/drawingml/2006/main" noGrp="1"/>
          </p:cNvSpPr>
          <p:nvPr/>
        </p:nvSpPr>
        <p:spPr>
          <a:xfrm xmlns:a="http://schemas.openxmlformats.org/drawingml/2006/main">
            <a:off x="742950" y="200025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01412"/>
                </a:solidFill>
              </a:defRPr>
            </a:pPr>
            <a:r>
              <a:rPr sz="1575">
                <a:solidFill>
                  <a:srgbClr val="101412"/>
                </a:solidFill>
              </a:rPr>
              <a:t>The proposed Agro Twin system addresses the identified gaps by creating a digital twin of the agricultural field. The system can collect data from field sensors, weather sources, and crop observations, then update a virtual model that represents the present condition of the farm. This model can be used to analyze crop health, water requirements, environmental stress, and possible risks.</a:t>
            </a:r>
          </a:p>
        </p:txBody>
      </p:sp>
      <p:sp>
        <p:nvSpPr>
          <p:cNvPr id="7" name="">
            <a:extLst xmlns:a="http://schemas.openxmlformats.org/drawingml/2006/main">
              <a:ext uri="{FF2B5EF4-FFF2-40B4-BE49-F238E27FC236}">
                <a16:creationId xmlns:a16="http://schemas.microsoft.com/office/drawing/2014/main" id="{C38BF681-1690-44B0-8DCD-E7D8AE95B3BA}"/>
              </a:ext>
            </a:extLst>
          </p:cNvPr>
          <p:cNvSpPr>
            <a:spLocks xmlns:a="http://schemas.openxmlformats.org/drawingml/2006/main" noGrp="1"/>
          </p:cNvSpPr>
          <p:nvPr/>
        </p:nvSpPr>
        <p:spPr>
          <a:xfrm xmlns:a="http://schemas.openxmlformats.org/drawingml/2006/main">
            <a:off x="742950" y="360045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01412"/>
                </a:solidFill>
              </a:defRPr>
            </a:pPr>
            <a:r>
              <a:rPr sz="1575">
                <a:solidFill>
                  <a:srgbClr val="101412"/>
                </a:solidFill>
              </a:rPr>
              <a:t>Agro Twin is intended to support a continuous decision loop. Data from the farm updates the twin, the twin supports prediction and recommendation, and the farmer's action produces new field changes that can again be observed. In this way, the proposed system moves beyond simple monitoring and aims to provide integrated, timely, and practical decision support for smart agriculture.</a:t>
            </a:r>
          </a:p>
        </p:txBody>
      </p:sp>
      <p:sp>
        <p:nvSpPr>
          <p:cNvPr id="8" name="">
            <a:extLst xmlns:a="http://schemas.openxmlformats.org/drawingml/2006/main">
              <a:ext uri="{FF2B5EF4-FFF2-40B4-BE49-F238E27FC236}">
                <a16:creationId xmlns:a16="http://schemas.microsoft.com/office/drawing/2014/main" id="{3DE3DAE8-2776-48BF-A901-D6BFA6AB969A}"/>
              </a:ext>
            </a:extLst>
          </p:cNvPr>
          <p:cNvSpPr>
            <a:spLocks xmlns:a="http://schemas.openxmlformats.org/drawingml/2006/main" noGrp="1"/>
          </p:cNvSpPr>
          <p:nvPr/>
        </p:nvSpPr>
        <p:spPr>
          <a:xfrm xmlns:a="http://schemas.openxmlformats.org/drawingml/2006/main">
            <a:off x="8382000" y="6343650"/>
            <a:ext cx="3067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C55"/>
                </a:solidFill>
              </a:defRPr>
            </a:pPr>
            <a:r>
              <a:rPr sz="1050">
                <a:solidFill>
                  <a:srgbClr val="4F5C55"/>
                </a:solidFill>
              </a:rPr>
              <a:t>Agro Twin Literature Review | 7</a:t>
            </a:r>
          </a:p>
        </p:txBody>
      </p:sp>
    </p:spTree>
    <p:extLst>
      <p:ext uri="{BB962C8B-B14F-4D97-AF65-F5344CB8AC3E}">
        <p14:creationId xmlns:p14="http://schemas.microsoft.com/office/powerpoint/2010/main" val="3077434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39DF8C-8BDA-4B73-9581-D834F8A1E632}"/>
              </a:ext>
            </a:extLst>
          </p:cNvPr>
          <p:cNvSpPr>
            <a:spLocks xmlns:a="http://schemas.openxmlformats.org/drawingml/2006/main" noGrp="1"/>
          </p:cNvSpPr>
          <p:nvPr/>
        </p:nvSpPr>
        <p:spPr>
          <a:xfrm xmlns:a="http://schemas.openxmlformats.org/drawingml/2006/main">
            <a:off x="74295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A"/>
                </a:solidFill>
              </a:defRPr>
            </a:pPr>
            <a:r>
              <a:rPr sz="1050" b="1">
                <a:solidFill>
                  <a:srgbClr val="2F7D4A"/>
                </a:solidFill>
              </a:rPr>
              <a:t>ACADEMIC SOURCES</a:t>
            </a:r>
          </a:p>
        </p:txBody>
      </p:sp>
      <p:sp>
        <p:nvSpPr>
          <p:cNvPr id="2" name="">
            <a:extLst xmlns:a="http://schemas.openxmlformats.org/drawingml/2006/main">
              <a:ext uri="{FF2B5EF4-FFF2-40B4-BE49-F238E27FC236}">
                <a16:creationId xmlns:a16="http://schemas.microsoft.com/office/drawing/2014/main" id="{FF491458-D63A-48AF-AC54-EA3D5DEDAE46}"/>
              </a:ext>
            </a:extLst>
          </p:cNvPr>
          <p:cNvSpPr>
            <a:spLocks xmlns:a="http://schemas.openxmlformats.org/drawingml/2006/main" noGrp="1"/>
          </p:cNvSpPr>
          <p:nvPr/>
        </p:nvSpPr>
        <p:spPr>
          <a:xfrm xmlns:a="http://schemas.openxmlformats.org/drawingml/2006/main">
            <a:off x="742950" y="742950"/>
            <a:ext cx="942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1412"/>
                </a:solidFill>
              </a:defRPr>
            </a:pPr>
            <a:r>
              <a:rPr sz="2925" b="1">
                <a:solidFill>
                  <a:srgbClr val="101412"/>
                </a:solidFill>
              </a:rPr>
              <a:t>References</a:t>
            </a:r>
          </a:p>
        </p:txBody>
      </p:sp>
      <p:sp>
        <p:nvSpPr>
          <p:cNvPr id="3" name="">
            <a:extLst xmlns:a="http://schemas.openxmlformats.org/drawingml/2006/main">
              <a:ext uri="{FF2B5EF4-FFF2-40B4-BE49-F238E27FC236}">
                <a16:creationId xmlns:a16="http://schemas.microsoft.com/office/drawing/2014/main" id="{0CE02ACC-E055-4C3E-97E9-553CF5DE3FE9}"/>
              </a:ext>
            </a:extLst>
          </p:cNvPr>
          <p:cNvSpPr>
            <a:spLocks xmlns:a="http://schemas.openxmlformats.org/drawingml/2006/main" noGrp="1"/>
          </p:cNvSpPr>
          <p:nvPr/>
        </p:nvSpPr>
        <p:spPr>
          <a:xfrm xmlns:a="http://schemas.openxmlformats.org/drawingml/2006/main">
            <a:off x="742950" y="1390650"/>
            <a:ext cx="10706100" cy="19050"/>
          </a:xfrm>
          <a:prstGeom xmlns:a="http://schemas.openxmlformats.org/drawingml/2006/main" prst="rect">
            <a:avLst/>
          </a:prstGeom>
          <a:solidFill xmlns:a="http://schemas.openxmlformats.org/drawingml/2006/main">
            <a:srgbClr val="C8D3C5"/>
          </a:solidFill>
          <a:ln xmlns:a="http://schemas.openxmlformats.org/drawingml/2006/main" w="0">
            <a:solidFill>
              <a:srgbClr val="C8D3C5"/>
            </a:solidFill>
            <a:prstDash val="solid"/>
          </a:ln>
        </p:spPr>
      </p:sp>
      <p:sp>
        <p:nvSpPr>
          <p:cNvPr id="4" name="">
            <a:extLst xmlns:a="http://schemas.openxmlformats.org/drawingml/2006/main">
              <a:ext uri="{FF2B5EF4-FFF2-40B4-BE49-F238E27FC236}">
                <a16:creationId xmlns:a16="http://schemas.microsoft.com/office/drawing/2014/main" id="{27EE6CAE-3E99-475B-9BE3-1F5CE799BEDA}"/>
              </a:ext>
            </a:extLst>
          </p:cNvPr>
          <p:cNvSpPr>
            <a:spLocks xmlns:a="http://schemas.openxmlformats.org/drawingml/2006/main" noGrp="1"/>
          </p:cNvSpPr>
          <p:nvPr/>
        </p:nvSpPr>
        <p:spPr>
          <a:xfrm xmlns:a="http://schemas.openxmlformats.org/drawingml/2006/main">
            <a:off x="742950" y="1390650"/>
            <a:ext cx="1466850" cy="47625"/>
          </a:xfrm>
          <a:prstGeom xmlns:a="http://schemas.openxmlformats.org/drawingml/2006/main" prst="rect">
            <a:avLst/>
          </a:prstGeom>
          <a:solidFill xmlns:a="http://schemas.openxmlformats.org/drawingml/2006/main">
            <a:srgbClr val="2F7D4A"/>
          </a:solidFill>
          <a:ln xmlns:a="http://schemas.openxmlformats.org/drawingml/2006/main" w="0">
            <a:solidFill>
              <a:srgbClr val="2F7D4A"/>
            </a:solidFill>
            <a:prstDash val="solid"/>
          </a:ln>
        </p:spPr>
      </p:sp>
      <p:sp>
        <p:nvSpPr>
          <p:cNvPr id="5" name="">
            <a:extLst xmlns:a="http://schemas.openxmlformats.org/drawingml/2006/main">
              <a:ext uri="{FF2B5EF4-FFF2-40B4-BE49-F238E27FC236}">
                <a16:creationId xmlns:a16="http://schemas.microsoft.com/office/drawing/2014/main" id="{82151C3B-32AA-44A9-B50A-066FA8BC913E}"/>
              </a:ext>
            </a:extLst>
          </p:cNvPr>
          <p:cNvSpPr>
            <a:spLocks xmlns:a="http://schemas.openxmlformats.org/drawingml/2006/main" noGrp="1"/>
          </p:cNvSpPr>
          <p:nvPr/>
        </p:nvSpPr>
        <p:spPr>
          <a:xfrm xmlns:a="http://schemas.openxmlformats.org/drawingml/2006/main">
            <a:off x="742950" y="186690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01412"/>
                </a:solidFill>
              </a:defRPr>
            </a:pPr>
            <a:r>
              <a:rPr sz="1200">
                <a:solidFill>
                  <a:srgbClr val="101412"/>
                </a:solidFill>
              </a:rPr>
              <a:t>1. Verdouw, C. N., Tekinerdogan, B., Beulens, A., &amp; Wolfert, S. (2021). Digital twins in smart farming. Agricultural Systems, 189, 103046. https://doi.org/10.1016/j.agsy.2020.103046</a:t>
            </a:r>
          </a:p>
        </p:txBody>
      </p:sp>
      <p:sp>
        <p:nvSpPr>
          <p:cNvPr id="6" name="">
            <a:extLst xmlns:a="http://schemas.openxmlformats.org/drawingml/2006/main">
              <a:ext uri="{FF2B5EF4-FFF2-40B4-BE49-F238E27FC236}">
                <a16:creationId xmlns:a16="http://schemas.microsoft.com/office/drawing/2014/main" id="{4F653A15-7A7F-40A2-A0BD-4384C991AA72}"/>
              </a:ext>
            </a:extLst>
          </p:cNvPr>
          <p:cNvSpPr>
            <a:spLocks xmlns:a="http://schemas.openxmlformats.org/drawingml/2006/main" noGrp="1"/>
          </p:cNvSpPr>
          <p:nvPr/>
        </p:nvSpPr>
        <p:spPr>
          <a:xfrm xmlns:a="http://schemas.openxmlformats.org/drawingml/2006/main">
            <a:off x="742950" y="25336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01412"/>
                </a:solidFill>
              </a:defRPr>
            </a:pPr>
            <a:r>
              <a:rPr sz="1200">
                <a:solidFill>
                  <a:srgbClr val="101412"/>
                </a:solidFill>
              </a:rPr>
              <a:t>2. Pylianidis, C., Osinga, S., &amp; Athanasiadis, I. N. (2021). Introducing digital twins to agriculture. Computers and Electronics in Agriculture, 184, 105942. https://doi.org/10.1016/j.compag.2020.105942</a:t>
            </a:r>
          </a:p>
        </p:txBody>
      </p:sp>
      <p:sp>
        <p:nvSpPr>
          <p:cNvPr id="7" name="">
            <a:extLst xmlns:a="http://schemas.openxmlformats.org/drawingml/2006/main">
              <a:ext uri="{FF2B5EF4-FFF2-40B4-BE49-F238E27FC236}">
                <a16:creationId xmlns:a16="http://schemas.microsoft.com/office/drawing/2014/main" id="{0217FD37-831C-43AC-B947-CE2AF39473B1}"/>
              </a:ext>
            </a:extLst>
          </p:cNvPr>
          <p:cNvSpPr>
            <a:spLocks xmlns:a="http://schemas.openxmlformats.org/drawingml/2006/main" noGrp="1"/>
          </p:cNvSpPr>
          <p:nvPr/>
        </p:nvSpPr>
        <p:spPr>
          <a:xfrm xmlns:a="http://schemas.openxmlformats.org/drawingml/2006/main">
            <a:off x="742950" y="320040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01412"/>
                </a:solidFill>
              </a:defRPr>
            </a:pPr>
            <a:r>
              <a:rPr sz="1200">
                <a:solidFill>
                  <a:srgbClr val="101412"/>
                </a:solidFill>
              </a:rPr>
              <a:t>3. Wolfert, S., Ge, L., Verdouw, C., &amp; Bogaardt, M.-J. (2017). Big Data in Smart Farming - A review. Agricultural Systems, 153, 69-80. https://doi.org/10.1016/j.agsy.2017.01.023</a:t>
            </a:r>
          </a:p>
        </p:txBody>
      </p:sp>
      <p:sp>
        <p:nvSpPr>
          <p:cNvPr id="8" name="">
            <a:extLst xmlns:a="http://schemas.openxmlformats.org/drawingml/2006/main">
              <a:ext uri="{FF2B5EF4-FFF2-40B4-BE49-F238E27FC236}">
                <a16:creationId xmlns:a16="http://schemas.microsoft.com/office/drawing/2014/main" id="{2E3EAC35-98B8-4072-9339-5966CEE3272D}"/>
              </a:ext>
            </a:extLst>
          </p:cNvPr>
          <p:cNvSpPr>
            <a:spLocks xmlns:a="http://schemas.openxmlformats.org/drawingml/2006/main" noGrp="1"/>
          </p:cNvSpPr>
          <p:nvPr/>
        </p:nvSpPr>
        <p:spPr>
          <a:xfrm xmlns:a="http://schemas.openxmlformats.org/drawingml/2006/main">
            <a:off x="742950" y="38671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01412"/>
                </a:solidFill>
              </a:defRPr>
            </a:pPr>
            <a:r>
              <a:rPr sz="1200">
                <a:solidFill>
                  <a:srgbClr val="101412"/>
                </a:solidFill>
              </a:rPr>
              <a:t>4. Liakos, K. G., Busato, P., Moshou, D., Pearson, S., &amp; Bochtis, D. (2018). Machine Learning in Agriculture: A Review. Sensors, 18(8), 2674. https://doi.org/10.3390/s18082674</a:t>
            </a:r>
          </a:p>
        </p:txBody>
      </p:sp>
      <p:sp>
        <p:nvSpPr>
          <p:cNvPr id="9" name="">
            <a:extLst xmlns:a="http://schemas.openxmlformats.org/drawingml/2006/main">
              <a:ext uri="{FF2B5EF4-FFF2-40B4-BE49-F238E27FC236}">
                <a16:creationId xmlns:a16="http://schemas.microsoft.com/office/drawing/2014/main" id="{083711A2-F17A-4F0F-A352-59E5D79E25F2}"/>
              </a:ext>
            </a:extLst>
          </p:cNvPr>
          <p:cNvSpPr>
            <a:spLocks xmlns:a="http://schemas.openxmlformats.org/drawingml/2006/main" noGrp="1"/>
          </p:cNvSpPr>
          <p:nvPr/>
        </p:nvSpPr>
        <p:spPr>
          <a:xfrm xmlns:a="http://schemas.openxmlformats.org/drawingml/2006/main">
            <a:off x="742950" y="453390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01412"/>
                </a:solidFill>
              </a:defRPr>
            </a:pPr>
            <a:r>
              <a:rPr sz="1200">
                <a:solidFill>
                  <a:srgbClr val="101412"/>
                </a:solidFill>
              </a:rPr>
              <a:t>5. Kamilaris, A., &amp; Prenafeta-Boldu, F. X. (2018). Deep learning in agriculture: A survey. Computers and Electronics in Agriculture, 147, 70-90. https://doi.org/10.1016/j.compag.2018.02.016</a:t>
            </a:r>
          </a:p>
        </p:txBody>
      </p:sp>
      <p:sp>
        <p:nvSpPr>
          <p:cNvPr id="10" name="">
            <a:extLst xmlns:a="http://schemas.openxmlformats.org/drawingml/2006/main">
              <a:ext uri="{FF2B5EF4-FFF2-40B4-BE49-F238E27FC236}">
                <a16:creationId xmlns:a16="http://schemas.microsoft.com/office/drawing/2014/main" id="{9D612C98-C0D7-4E17-887D-0857D4E7D4BB}"/>
              </a:ext>
            </a:extLst>
          </p:cNvPr>
          <p:cNvSpPr>
            <a:spLocks xmlns:a="http://schemas.openxmlformats.org/drawingml/2006/main" noGrp="1"/>
          </p:cNvSpPr>
          <p:nvPr/>
        </p:nvSpPr>
        <p:spPr>
          <a:xfrm xmlns:a="http://schemas.openxmlformats.org/drawingml/2006/main">
            <a:off x="742950" y="52006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01412"/>
                </a:solidFill>
              </a:defRPr>
            </a:pPr>
            <a:r>
              <a:rPr sz="1200">
                <a:solidFill>
                  <a:srgbClr val="101412"/>
                </a:solidFill>
              </a:rPr>
              <a:t>6. Atzori, L., Iera, A., &amp; Morabito, G. (2010). The Internet of Things: A survey. Computer Networks, 54(15), 2787-2805. https://doi.org/10.1016/j.comnet.2010.05.010</a:t>
            </a:r>
          </a:p>
        </p:txBody>
      </p:sp>
      <p:sp>
        <p:nvSpPr>
          <p:cNvPr id="11" name="">
            <a:extLst xmlns:a="http://schemas.openxmlformats.org/drawingml/2006/main">
              <a:ext uri="{FF2B5EF4-FFF2-40B4-BE49-F238E27FC236}">
                <a16:creationId xmlns:a16="http://schemas.microsoft.com/office/drawing/2014/main" id="{A62CF80B-64AE-469D-94CE-81C7828118BA}"/>
              </a:ext>
            </a:extLst>
          </p:cNvPr>
          <p:cNvSpPr>
            <a:spLocks xmlns:a="http://schemas.openxmlformats.org/drawingml/2006/main" noGrp="1"/>
          </p:cNvSpPr>
          <p:nvPr/>
        </p:nvSpPr>
        <p:spPr>
          <a:xfrm xmlns:a="http://schemas.openxmlformats.org/drawingml/2006/main">
            <a:off x="8382000" y="6343650"/>
            <a:ext cx="3067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C55"/>
                </a:solidFill>
              </a:defRPr>
            </a:pPr>
            <a:r>
              <a:rPr sz="1050">
                <a:solidFill>
                  <a:srgbClr val="4F5C55"/>
                </a:solidFill>
              </a:rPr>
              <a:t>Agro Twin Literature Review | 8</a:t>
            </a:r>
          </a:p>
        </p:txBody>
      </p:sp>
    </p:spTree>
    <p:extLst>
      <p:ext uri="{BB962C8B-B14F-4D97-AF65-F5344CB8AC3E}">
        <p14:creationId xmlns:p14="http://schemas.microsoft.com/office/powerpoint/2010/main" val="7204949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2026-08-24T08:09:50.1230000Z</dcterms:created>
  <dcterms:modified xsi:type="dcterms:W3CDTF">2026-08-24T08:09:50.1230000Z</dcterms:modified>
</coreProperties>
</file>