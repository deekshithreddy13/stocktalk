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54bdf7bf4c4fde" /><Relationship Type="http://schemas.openxmlformats.org/officeDocument/2006/relationships/extended-properties" Target="/docProps/app.xml" Id="R3b9fb7bd1f6e4b2a" /><Relationship Type="http://schemas.openxmlformats.org/officeDocument/2006/relationships/officeDocument" Target="/ppt/presentation.xml" Id="R0562c039dd2043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5c8e6e4b30482d"/>
  </p:sldMasterIdLst>
  <p:notesMasterIdLst>
    <p:notesMasterId xmlns:r="http://schemas.openxmlformats.org/officeDocument/2006/relationships" r:id="R0dcc822d732c4f14"/>
  </p:notesMasterIdLst>
  <p:sldIdLst>
    <p:sldId xmlns:r="http://schemas.openxmlformats.org/officeDocument/2006/relationships" id="256" r:id="R48bf5ab7e7684b57"/>
    <p:sldId xmlns:r="http://schemas.openxmlformats.org/officeDocument/2006/relationships" id="257" r:id="R001eeae91f424164"/>
    <p:sldId xmlns:r="http://schemas.openxmlformats.org/officeDocument/2006/relationships" id="258" r:id="R8ec4823853d34bc1"/>
    <p:sldId xmlns:r="http://schemas.openxmlformats.org/officeDocument/2006/relationships" id="259" r:id="R88727fbe76a345ee"/>
    <p:sldId xmlns:r="http://schemas.openxmlformats.org/officeDocument/2006/relationships" id="260" r:id="R68302aa24ad44199"/>
    <p:sldId xmlns:r="http://schemas.openxmlformats.org/officeDocument/2006/relationships" id="261" r:id="R5177da722244444e"/>
    <p:sldId xmlns:r="http://schemas.openxmlformats.org/officeDocument/2006/relationships" id="262" r:id="R3b3d703bad9347e3"/>
    <p:sldId xmlns:r="http://schemas.openxmlformats.org/officeDocument/2006/relationships" id="263" r:id="Rbcfb0eaec45c49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828249ac184920" /><Relationship Type="http://schemas.openxmlformats.org/officeDocument/2006/relationships/slideMaster" Target="/ppt/slideMasters/slideMaster1.xml" Id="Rab5c8e6e4b30482d" /><Relationship Type="http://schemas.openxmlformats.org/officeDocument/2006/relationships/notesMaster" Target="/ppt/notesMasters/notesMaster1.xml" Id="R0dcc822d732c4f14" /><Relationship Type="http://schemas.openxmlformats.org/officeDocument/2006/relationships/presProps" Target="/ppt/presProps.xml" Id="R40197817c67e4a9c" /><Relationship Type="http://schemas.openxmlformats.org/officeDocument/2006/relationships/tableStyles" Target="/ppt/tableStyles.xml" Id="Ra1da05a7cc404a06" /><Relationship Type="http://schemas.openxmlformats.org/officeDocument/2006/relationships/slide" Target="/ppt/slides/slide1.xml" Id="R48bf5ab7e7684b57" /><Relationship Type="http://schemas.openxmlformats.org/officeDocument/2006/relationships/slide" Target="/ppt/slides/slide2.xml" Id="R001eeae91f424164" /><Relationship Type="http://schemas.openxmlformats.org/officeDocument/2006/relationships/slide" Target="/ppt/slides/slide3.xml" Id="R8ec4823853d34bc1" /><Relationship Type="http://schemas.openxmlformats.org/officeDocument/2006/relationships/slide" Target="/ppt/slides/slide4.xml" Id="R88727fbe76a345ee" /><Relationship Type="http://schemas.openxmlformats.org/officeDocument/2006/relationships/slide" Target="/ppt/slides/slide5.xml" Id="R68302aa24ad44199" /><Relationship Type="http://schemas.openxmlformats.org/officeDocument/2006/relationships/slide" Target="/ppt/slides/slide6.xml" Id="R5177da722244444e" /><Relationship Type="http://schemas.openxmlformats.org/officeDocument/2006/relationships/slide" Target="/ppt/slides/slide7.xml" Id="R3b3d703bad9347e3" /><Relationship Type="http://schemas.openxmlformats.org/officeDocument/2006/relationships/slide" Target="/ppt/slides/slide8.xml" Id="Rbcfb0eaec45c49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d8ded046674d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5ad87d6d1343a9" /><Relationship Type="http://schemas.openxmlformats.org/officeDocument/2006/relationships/notesMaster" Target="/ppt/notesMasters/notesMaster1.xml" Id="Rbdf2e74f70964b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ec57095a444aa5" /><Relationship Type="http://schemas.openxmlformats.org/officeDocument/2006/relationships/notesMaster" Target="/ppt/notesMasters/notesMaster1.xml" Id="R5238b8166c204b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15d39fd419488c" /><Relationship Type="http://schemas.openxmlformats.org/officeDocument/2006/relationships/notesMaster" Target="/ppt/notesMasters/notesMaster1.xml" Id="R8ccbe235bf8740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8cd4d6c2344d37" /><Relationship Type="http://schemas.openxmlformats.org/officeDocument/2006/relationships/notesMaster" Target="/ppt/notesMasters/notesMaster1.xml" Id="Rc8cef8cefd4441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bc209e3013427f" /><Relationship Type="http://schemas.openxmlformats.org/officeDocument/2006/relationships/notesMaster" Target="/ppt/notesMasters/notesMaster1.xml" Id="Rc13c14d30f914a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5d5c841f0b4457" /><Relationship Type="http://schemas.openxmlformats.org/officeDocument/2006/relationships/notesMaster" Target="/ppt/notesMasters/notesMaster1.xml" Id="R1d44633007964b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4a108ae9644f05" /><Relationship Type="http://schemas.openxmlformats.org/officeDocument/2006/relationships/notesMaster" Target="/ppt/notesMasters/notesMaster1.xml" Id="Rb33ce37380344f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1f8cc7eaa94e60" /><Relationship Type="http://schemas.openxmlformats.org/officeDocument/2006/relationships/notesMaster" Target="/ppt/notesMasters/notesMaster1.xml" Id="R9079f897df0e44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Claim: Agro Twin is positioned within digital twin and smart agriculture research.</a:t>
            </a:r>
          </a:p>
          <a:p xmlns:a="http://schemas.openxmlformats.org/drawingml/2006/main">
            <a:r>
              <a:t>- Verdouw et al. (2021), Digital twins in smart farming, Agricultural Systems. DOI: 10.1016/j.agsy.2020.103046</a:t>
            </a:r>
          </a:p>
          <a:p xmlns:a="http://schemas.openxmlformats.org/drawingml/2006/main">
            <a:r>
              <a:t>- Pylianidis et al. (2021), Introducing digital twins to agriculture, Computers and Electronics in Agriculture. DOI: 10.1016/j.compag.2020.105942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Claim: The abstract synthesizes digital twin, IoT, big-data, and AI themes in agriculture.</a:t>
            </a:r>
          </a:p>
          <a:p xmlns:a="http://schemas.openxmlformats.org/drawingml/2006/main">
            <a:r>
              <a:t>- Verdouw et al. (2021), Digital twins in smart farming, Agricultural Systems. DOI: 10.1016/j.agsy.2020.103046</a:t>
            </a:r>
          </a:p>
          <a:p xmlns:a="http://schemas.openxmlformats.org/drawingml/2006/main">
            <a:r>
              <a:t>- Pylianidis et al. (2021), Introducing digital twins to agriculture, Computers and Electronics in Agriculture. DOI: 10.1016/j.compag.2020.105942</a:t>
            </a:r>
          </a:p>
          <a:p xmlns:a="http://schemas.openxmlformats.org/drawingml/2006/main">
            <a:r>
              <a:t>- Wolfert et al. (2017), Big Data in Smart Farming - A review, Agricultural Systems. DOI: 10.1016/j.agsy.2017.01.023</a:t>
            </a:r>
          </a:p>
          <a:p xmlns:a="http://schemas.openxmlformats.org/drawingml/2006/main">
            <a:r>
              <a:t>- Liakos et al. (2018), Machine Learning in Agriculture: A Review, Sensors. DOI: 10.3390/s18082674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Claim: Digital agriculture research frames sensing, variability, and analytics as central smart-farming drivers.</a:t>
            </a:r>
          </a:p>
          <a:p xmlns:a="http://schemas.openxmlformats.org/drawingml/2006/main">
            <a:r>
              <a:t>- Wolfert et al. (2017), Big Data in Smart Farming - A review, Agricultural Systems. DOI: 10.1016/j.agsy.2017.01.023</a:t>
            </a:r>
          </a:p>
          <a:p xmlns:a="http://schemas.openxmlformats.org/drawingml/2006/main">
            <a:r>
              <a:t>- Atzori et al. (2010), The Internet of Things: A survey, Computer Networks. DOI: 10.1016/j.comnet.2010.05.010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Claim: Digital twins in agriculture are described as linked physical-virtual systems supported by data streams and decision feedback.</a:t>
            </a:r>
          </a:p>
          <a:p xmlns:a="http://schemas.openxmlformats.org/drawingml/2006/main">
            <a:r>
              <a:t>- Verdouw et al. (2021), Digital twins in smart farming, Agricultural Systems. DOI: 10.1016/j.agsy.2020.103046</a:t>
            </a:r>
          </a:p>
          <a:p xmlns:a="http://schemas.openxmlformats.org/drawingml/2006/main">
            <a:r>
              <a:t>- Pylianidis et al. (2021), Introducing digital twins to agriculture, Computers and Electronics in Agriculture. DOI: 10.1016/j.compag.2020.105942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Claim: Existing smart-farming systems include IoT monitoring, remote sensing, ML prediction, and dashboards, but are frequently fragmented by task and data source.</a:t>
            </a:r>
          </a:p>
          <a:p xmlns:a="http://schemas.openxmlformats.org/drawingml/2006/main">
            <a:r>
              <a:t>- Wolfert et al. (2017), Big Data in Smart Farming - A review, Agricultural Systems. DOI: 10.1016/j.agsy.2017.01.023</a:t>
            </a:r>
          </a:p>
          <a:p xmlns:a="http://schemas.openxmlformats.org/drawingml/2006/main">
            <a:r>
              <a:t>- Liakos et al. (2018), Machine Learning in Agriculture: A Review, Sensors. DOI: 10.3390/s18082674</a:t>
            </a:r>
          </a:p>
          <a:p xmlns:a="http://schemas.openxmlformats.org/drawingml/2006/main">
            <a:r>
              <a:t>- Kamilaris &amp; Prenafeta-Boldu (2018), Deep learning in agriculture: A survey, Computers and Electronics in Agriculture. DOI: 10.1016/j.compag.2018.02.016</a:t>
            </a:r>
          </a:p>
          <a:p xmlns:a="http://schemas.openxmlformats.org/drawingml/2006/main">
            <a:r>
              <a:t>- Atzori et al. (2010), The Internet of Things: A survey, Computer Networks. DOI: 10.1016/j.comnet.2010.05.010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Claim: The identified gaps synthesize challenges reported across digital twin, big-data, IoT, and ML literature.</a:t>
            </a:r>
          </a:p>
          <a:p xmlns:a="http://schemas.openxmlformats.org/drawingml/2006/main">
            <a:r>
              <a:t>- Verdouw et al. (2021), Digital twins in smart farming, Agricultural Systems. DOI: 10.1016/j.agsy.2020.103046</a:t>
            </a:r>
          </a:p>
          <a:p xmlns:a="http://schemas.openxmlformats.org/drawingml/2006/main">
            <a:r>
              <a:t>- Pylianidis et al. (2021), Introducing digital twins to agriculture, Computers and Electronics in Agriculture. DOI: 10.1016/j.compag.2020.105942</a:t>
            </a:r>
          </a:p>
          <a:p xmlns:a="http://schemas.openxmlformats.org/drawingml/2006/main">
            <a:r>
              <a:t>- Wolfert et al. (2017), Big Data in Smart Farming - A review, Agricultural Systems. DOI: 10.1016/j.agsy.2017.01.023</a:t>
            </a:r>
          </a:p>
          <a:p xmlns:a="http://schemas.openxmlformats.org/drawingml/2006/main">
            <a:r>
              <a:t>- Liakos et al. (2018), Machine Learning in Agriculture: A Review, Sensors. DOI: 10.3390/s18082674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Claim: The proposed Agro Twin system applies a digital-twin feedback-loop pattern to integrated farm monitoring and advisory support.</a:t>
            </a:r>
          </a:p>
          <a:p xmlns:a="http://schemas.openxmlformats.org/drawingml/2006/main">
            <a:r>
              <a:t>- Verdouw et al. (2021), Digital twins in smart farming, Agricultural Systems. DOI: 10.1016/j.agsy.2020.103046</a:t>
            </a:r>
          </a:p>
          <a:p xmlns:a="http://schemas.openxmlformats.org/drawingml/2006/main">
            <a:r>
              <a:t>- Pylianidis et al. (2021), Introducing digital twins to agriculture, Computers and Electronics in Agriculture. DOI: 10.1016/j.compag.2020.105942</a:t>
            </a:r>
          </a:p>
          <a:p xmlns:a="http://schemas.openxmlformats.org/drawingml/2006/main">
            <a:r>
              <a:t>- Liakos et al. (2018), Machine Learning in Agriculture: A Review, Sensors. DOI: 10.3390/s18082674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Claim: Reference list for the literature-review deck.</a:t>
            </a:r>
          </a:p>
          <a:p xmlns:a="http://schemas.openxmlformats.org/drawingml/2006/main">
            <a:r>
              <a:t>- Verdouw et al. (2021), Digital twins in smart farming, Agricultural Systems. DOI: 10.1016/j.agsy.2020.103046</a:t>
            </a:r>
          </a:p>
          <a:p xmlns:a="http://schemas.openxmlformats.org/drawingml/2006/main">
            <a:r>
              <a:t>- Pylianidis et al. (2021), Introducing digital twins to agriculture, Computers and Electronics in Agriculture. DOI: 10.1016/j.compag.2020.105942</a:t>
            </a:r>
          </a:p>
          <a:p xmlns:a="http://schemas.openxmlformats.org/drawingml/2006/main">
            <a:r>
              <a:t>- Wolfert et al. (2017), Big Data in Smart Farming - A review, Agricultural Systems. DOI: 10.1016/j.agsy.2017.01.023</a:t>
            </a:r>
          </a:p>
          <a:p xmlns:a="http://schemas.openxmlformats.org/drawingml/2006/main">
            <a:r>
              <a:t>- Liakos et al. (2018), Machine Learning in Agriculture: A Review, Sensors. DOI: 10.3390/s18082674</a:t>
            </a:r>
          </a:p>
          <a:p xmlns:a="http://schemas.openxmlformats.org/drawingml/2006/main">
            <a:r>
              <a:t>- Kamilaris &amp; Prenafeta-Boldu (2018), Deep learning in agriculture: A survey, Computers and Electronics in Agriculture. DOI: 10.1016/j.compag.2018.02.016</a:t>
            </a:r>
          </a:p>
          <a:p xmlns:a="http://schemas.openxmlformats.org/drawingml/2006/main">
            <a:r>
              <a:t>- Atzori et al. (2010), The Internet of Things: A survey, Computer Networks. DOI: 10.1016/j.comnet.2010.05.010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023593f56746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e6bdf611064e0f" /><Relationship Type="http://schemas.openxmlformats.org/officeDocument/2006/relationships/slideLayout" Target="/ppt/slideLayouts/slideLayout1.xml" Id="R2d7b8fa6965141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7b8fa6965141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b3d22ae8e4688" /><Relationship Type="http://schemas.openxmlformats.org/officeDocument/2006/relationships/notesSlide" Target="/ppt/notesSlides/notesSlide1.xml" Id="R04881c6b2ff441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668054f2f45b4" /><Relationship Type="http://schemas.openxmlformats.org/officeDocument/2006/relationships/notesSlide" Target="/ppt/notesSlides/notesSlide2.xml" Id="R688fb939e8c14a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f2e3f27c144c4" /><Relationship Type="http://schemas.openxmlformats.org/officeDocument/2006/relationships/notesSlide" Target="/ppt/notesSlides/notesSlide3.xml" Id="R40591e55db4440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40efe7870461a" /><Relationship Type="http://schemas.openxmlformats.org/officeDocument/2006/relationships/notesSlide" Target="/ppt/notesSlides/notesSlide4.xml" Id="R8703e1682b804e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9b0253aa041cf" /><Relationship Type="http://schemas.openxmlformats.org/officeDocument/2006/relationships/notesSlide" Target="/ppt/notesSlides/notesSlide5.xml" Id="R1bf0a3c0e92747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aeba9e15144f8" /><Relationship Type="http://schemas.openxmlformats.org/officeDocument/2006/relationships/notesSlide" Target="/ppt/notesSlides/notesSlide6.xml" Id="Rad80d5489d7940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32fc8af144a7d" /><Relationship Type="http://schemas.openxmlformats.org/officeDocument/2006/relationships/notesSlide" Target="/ppt/notesSlides/notesSlide7.xml" Id="Rf85638c2150449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5e5830cad4bdd" /><Relationship Type="http://schemas.openxmlformats.org/officeDocument/2006/relationships/notesSlide" Target="/ppt/notesSlides/notesSlide8.xml" Id="R8d21f922341e4d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4385EB-D08C-4036-88D2-FC4D7437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533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B0F0E"/>
                </a:solidFill>
              </a:defRPr>
            </a:pPr>
            <a:r>
              <a:rPr sz="4650" b="1">
                <a:solidFill>
                  <a:srgbClr val="0B0F0E"/>
                </a:solidFill>
              </a:rPr>
              <a:t>Agro Twin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6BA88-7A1E-4F95-AA38-148482B1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8595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F7D4A"/>
                </a:solidFill>
              </a:defRPr>
            </a:pPr>
            <a:r>
              <a:rPr sz="2550" b="1">
                <a:solidFill>
                  <a:srgbClr val="2F7D4A"/>
                </a:solidFill>
              </a:rPr>
              <a:t>Literature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E154D-D22F-4C8A-8A82-738F3736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813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9645F"/>
                </a:solidFill>
              </a:defRPr>
            </a:pPr>
            <a:r>
              <a:rPr sz="1800">
                <a:solidFill>
                  <a:srgbClr val="59645F"/>
                </a:solidFill>
              </a:rPr>
              <a:t>Digital twin enabled smart agriculture for crop monitoring, prediction, and decision support.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20B38-8613-4114-8EC2-5E03C290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876300"/>
            <a:ext cx="47625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EE"/>
          </a:solidFill>
          <a:ln xmlns:a="http://schemas.openxmlformats.org/drawingml/2006/main" w="9525">
            <a:solidFill>
              <a:srgbClr val="D9E3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23621-FF92-426B-B524-FD7BD7A6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62100"/>
            <a:ext cx="4152900" cy="4000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73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4A286-4DE5-4780-8A1D-65DF7451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85950"/>
            <a:ext cx="4152900" cy="4000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7D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D561C-7F9D-4146-B8BF-DFD08786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09800"/>
            <a:ext cx="4152900" cy="4000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73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A7BB5-5BDA-47EE-B99A-5475A2C2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33650"/>
            <a:ext cx="4152900" cy="4000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7D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140900-09E7-4BC8-8952-D415BAA3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4152900" cy="4000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73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4C294-B445-4931-B42F-52BD8C6C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81350"/>
            <a:ext cx="4152900" cy="4000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7D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80DCA0-590F-49C4-B07E-B7367F95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05200"/>
            <a:ext cx="4152900" cy="4000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73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8AEFEF-04AC-477D-B790-14CA895E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371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D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26F75-E5B0-4C26-BBC1-7C27440E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57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7D4A"/>
                </a:solidFill>
              </a:defRPr>
            </a:pPr>
            <a:r>
              <a:rPr sz="1050" b="1">
                <a:solidFill>
                  <a:srgbClr val="2F7D4A"/>
                </a:solidFill>
              </a:rPr>
              <a:t>Sensor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8932F2-B32F-427C-8F16-F4876A7E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764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D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F52EB7-CEAE-4F88-9CF9-8AB85035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622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7D4A"/>
                </a:solidFill>
              </a:defRPr>
            </a:pPr>
            <a:r>
              <a:rPr sz="1050" b="1">
                <a:solidFill>
                  <a:srgbClr val="2F7D4A"/>
                </a:solidFill>
              </a:rPr>
              <a:t>Crop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8796D4-EA0C-41A6-91B1-6D96B28C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371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D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9986DD-90F9-4DA8-8599-6026DEBE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57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7D4A"/>
                </a:solidFill>
              </a:defRPr>
            </a:pPr>
            <a:r>
              <a:rPr sz="1050" b="1">
                <a:solidFill>
                  <a:srgbClr val="2F7D4A"/>
                </a:solidFill>
              </a:rPr>
              <a:t>Weather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4440B1-52D9-404D-8A55-994CCC4D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764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2F7D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2B04FD-960B-40A9-9919-40072DCA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9622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Twin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66FE68-9168-4805-A63B-9D2CD26D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531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45F"/>
                </a:solidFill>
              </a:defRPr>
            </a:pPr>
            <a:r>
              <a:rPr sz="1200">
                <a:solidFill>
                  <a:srgbClr val="59645F"/>
                </a:solidFill>
              </a:rPr>
              <a:t>Project Review Deck</a:t>
            </a:r>
          </a:p>
        </p:txBody>
      </p:sp>
    </p:spTree>
    <p:extLst>
      <p:ext uri="{BB962C8B-B14F-4D97-AF65-F5344CB8AC3E}">
        <p14:creationId xmlns:p14="http://schemas.microsoft.com/office/powerpoint/2010/main" val="7015437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9AE9A-67D7-4CAE-9E0F-0408766E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7D4A"/>
                </a:solidFill>
              </a:defRPr>
            </a:pPr>
            <a:r>
              <a:rPr sz="975" b="1">
                <a:solidFill>
                  <a:srgbClr val="2F7D4A"/>
                </a:solidFill>
              </a:rPr>
              <a:t>LITERATURE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38626-8CDC-43F8-90C4-4C239E86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0F0E"/>
                </a:solidFill>
              </a:defRPr>
            </a:pPr>
            <a:r>
              <a:rPr sz="2775" b="1">
                <a:solidFill>
                  <a:srgbClr val="0B0F0E"/>
                </a:solidFill>
              </a:rPr>
              <a:t>Abstract: Agro Twin connects farm data to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DDE6C-9A38-4414-8EC3-3A2870A0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5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>
            <a:solidFill>
              <a:srgbClr val="2F7D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D0946-8099-4898-814B-96089B55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B0F0E"/>
                </a:solidFill>
              </a:defRPr>
            </a:pPr>
            <a:r>
              <a:rPr sz="1950">
                <a:solidFill>
                  <a:srgbClr val="0B0F0E"/>
                </a:solidFill>
              </a:rPr>
              <a:t>Agro Twin is proposed as a digital representation of an agricultural field that continuously receives data from sensors, weather inputs, and crop observations.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95210-67F1-4CC0-8299-A7BEA6AA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>
            <a:solidFill>
              <a:srgbClr val="2F7D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19BD3-1E29-4B66-96D4-F9B854CB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52800"/>
            <a:ext cx="925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B0F0E"/>
                </a:solidFill>
              </a:defRPr>
            </a:pPr>
            <a:r>
              <a:rPr sz="1650">
                <a:solidFill>
                  <a:srgbClr val="0B0F0E"/>
                </a:solidFill>
              </a:rPr>
              <a:t>The review studies IoT sensing, big-data analytics, machine learning, and agricultural digital twins.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A4A71-1627-4E93-BBDC-8647679B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52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>
            <a:solidFill>
              <a:srgbClr val="2F7D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7143E-1C66-4726-93EE-1639D292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86200"/>
            <a:ext cx="925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B0F0E"/>
                </a:solidFill>
              </a:defRPr>
            </a:pPr>
            <a:r>
              <a:rPr sz="1650">
                <a:solidFill>
                  <a:srgbClr val="0B0F0E"/>
                </a:solidFill>
              </a:rPr>
              <a:t>Existing work shows strong progress in monitoring and prediction, but weaker integration across full farm decision cycles.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806842-3433-44A7-8DA1-E1F03B07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86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>
            <a:solidFill>
              <a:srgbClr val="2F7D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0C468-845A-4BBF-B505-752C6EE4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25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B0F0E"/>
                </a:solidFill>
              </a:defRPr>
            </a:pPr>
            <a:r>
              <a:rPr sz="1650">
                <a:solidFill>
                  <a:srgbClr val="0B0F0E"/>
                </a:solidFill>
              </a:rPr>
              <a:t>The proposed system focuses on real-time crop condition tracking, risk prediction, and farmer-friendly recommendations.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879175-3352-48F5-A9C7-FBE8526E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3627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45F"/>
                </a:solidFill>
              </a:defRPr>
            </a:pPr>
            <a:r>
              <a:rPr sz="975">
                <a:solidFill>
                  <a:srgbClr val="59645F"/>
                </a:solidFill>
              </a:rPr>
              <a:t>Agro Twin | 2</a:t>
            </a:r>
          </a:p>
        </p:txBody>
      </p:sp>
    </p:spTree>
    <p:extLst>
      <p:ext uri="{BB962C8B-B14F-4D97-AF65-F5344CB8AC3E}">
        <p14:creationId xmlns:p14="http://schemas.microsoft.com/office/powerpoint/2010/main" val="3337708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048E5F-8AF1-457A-8A8F-7E72C440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7D4A"/>
                </a:solidFill>
              </a:defRPr>
            </a:pPr>
            <a:r>
              <a:rPr sz="975" b="1">
                <a:solidFill>
                  <a:srgbClr val="2F7D4A"/>
                </a:solidFill>
              </a:rPr>
              <a:t>LITERATURE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060016-F228-498D-92CF-2281CE34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0F0E"/>
                </a:solidFill>
              </a:defRPr>
            </a:pPr>
            <a:r>
              <a:rPr sz="2775" b="1">
                <a:solidFill>
                  <a:srgbClr val="0B0F0E"/>
                </a:solidFill>
              </a:rPr>
              <a:t>Smart farming needs a live view of the field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D0C60-96E3-4D17-B9D2-0978204B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5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>
            <a:solidFill>
              <a:srgbClr val="2F7D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C577B-7B99-45CD-B32E-07EB5564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30003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1"/>
          </a:solidFill>
          <a:ln xmlns:a="http://schemas.openxmlformats.org/drawingml/2006/main" w="9525">
            <a:solidFill>
              <a:srgbClr val="B8C2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3ADA4-8A0D-4BEE-816A-3F146189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14550"/>
            <a:ext cx="30003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1"/>
          </a:solidFill>
          <a:ln xmlns:a="http://schemas.openxmlformats.org/drawingml/2006/main" w="9525">
            <a:solidFill>
              <a:srgbClr val="B8C2B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FD7E5-B570-49EE-A2E0-5669C841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14550"/>
            <a:ext cx="30003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1"/>
          </a:solidFill>
          <a:ln xmlns:a="http://schemas.openxmlformats.org/drawingml/2006/main" w="9525">
            <a:solidFill>
              <a:srgbClr val="B8C2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84F90-DD5F-4B89-A86D-842558E9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7D4A"/>
                </a:solidFill>
              </a:defRPr>
            </a:pPr>
            <a:r>
              <a:rPr sz="1875" b="1">
                <a:solidFill>
                  <a:srgbClr val="2F7D4A"/>
                </a:solidFill>
              </a:rPr>
              <a:t>Field variability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F70DB-39DC-4A15-A855-141E751B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2428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B0F0E"/>
                </a:solidFill>
              </a:defRPr>
            </a:pPr>
            <a:r>
              <a:rPr sz="1575">
                <a:solidFill>
                  <a:srgbClr val="0B0F0E"/>
                </a:solidFill>
              </a:rPr>
              <a:t>Soil moisture, nutrients, pest stress, and micro-climate can vary across the same farm.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4468F-B3ED-447C-A02C-769EA848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574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7D4A"/>
                </a:solidFill>
              </a:defRPr>
            </a:pPr>
            <a:r>
              <a:rPr sz="1875" b="1">
                <a:solidFill>
                  <a:srgbClr val="2F7D4A"/>
                </a:solidFill>
              </a:rPr>
              <a:t>Data availability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E340C0-1C68-4916-915C-B3997C5D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67050"/>
            <a:ext cx="2428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B0F0E"/>
                </a:solidFill>
              </a:defRPr>
            </a:pPr>
            <a:r>
              <a:rPr sz="1575">
                <a:solidFill>
                  <a:srgbClr val="0B0F0E"/>
                </a:solidFill>
              </a:rPr>
              <a:t>IoT devices, images, and weather APIs make continuous observation possible.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70FDA-CE9D-46C0-8954-E2D27FEA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7D4A"/>
                </a:solidFill>
              </a:defRPr>
            </a:pPr>
            <a:r>
              <a:rPr sz="1875" b="1">
                <a:solidFill>
                  <a:srgbClr val="2F7D4A"/>
                </a:solidFill>
              </a:rPr>
              <a:t>Decision pressure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D2A4EA-3F2D-4C02-8E0C-1DE1DB04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67050"/>
            <a:ext cx="2428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B0F0E"/>
                </a:solidFill>
              </a:defRPr>
            </a:pPr>
            <a:r>
              <a:rPr sz="1575">
                <a:solidFill>
                  <a:srgbClr val="0B0F0E"/>
                </a:solidFill>
              </a:rPr>
              <a:t>Farmers need timely guidance before stress becomes yield loss.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7778F1-E6F2-4053-A63C-4296928B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3627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45F"/>
                </a:solidFill>
              </a:defRPr>
            </a:pPr>
            <a:r>
              <a:rPr sz="975">
                <a:solidFill>
                  <a:srgbClr val="59645F"/>
                </a:solidFill>
              </a:rPr>
              <a:t>Agro Twin | 3</a:t>
            </a:r>
          </a:p>
        </p:txBody>
      </p:sp>
    </p:spTree>
    <p:extLst>
      <p:ext uri="{BB962C8B-B14F-4D97-AF65-F5344CB8AC3E}">
        <p14:creationId xmlns:p14="http://schemas.microsoft.com/office/powerpoint/2010/main" val="720303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06663E-80FC-44AB-807C-E9E4CCBE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7D4A"/>
                </a:solidFill>
              </a:defRPr>
            </a:pPr>
            <a:r>
              <a:rPr sz="975" b="1">
                <a:solidFill>
                  <a:srgbClr val="2F7D4A"/>
                </a:solidFill>
              </a:rPr>
              <a:t>LITERATURE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9AE1D-54CA-4149-ABA8-413C832D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0F0E"/>
                </a:solidFill>
              </a:defRPr>
            </a:pPr>
            <a:r>
              <a:rPr sz="2775" b="1">
                <a:solidFill>
                  <a:srgbClr val="0B0F0E"/>
                </a:solidFill>
              </a:rPr>
              <a:t>State of the art: twins create a field feedback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662FB-5711-449A-BD8D-423B4F4B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5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>
            <a:solidFill>
              <a:srgbClr val="2F7D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4B526-9559-4B5C-9B6A-88788A4D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2076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1"/>
          </a:solidFill>
          <a:ln xmlns:a="http://schemas.openxmlformats.org/drawingml/2006/main" w="9525">
            <a:solidFill>
              <a:srgbClr val="B8C2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2548A-B413-43F8-8D5B-07D8DFFC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7D4A"/>
                </a:solidFill>
              </a:defRPr>
            </a:pPr>
            <a:r>
              <a:rPr sz="1800" b="1">
                <a:solidFill>
                  <a:srgbClr val="2F7D4A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FB5E5-56AF-481B-9797-7CA1954B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0515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0F0E"/>
                </a:solidFill>
              </a:defRPr>
            </a:pPr>
            <a:r>
              <a:rPr sz="2025" b="1">
                <a:solidFill>
                  <a:srgbClr val="0B0F0E"/>
                </a:solidFill>
              </a:rPr>
              <a:t>Sense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D94D2-CDEE-4B56-953A-D92D4339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045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45F"/>
                </a:solidFill>
              </a:defRPr>
            </a:pPr>
            <a:r>
              <a:rPr sz="1350">
                <a:solidFill>
                  <a:srgbClr val="59645F"/>
                </a:solidFill>
              </a:rPr>
              <a:t>IoT sensors, weather feeds, remote imagery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F3836-00E1-402F-961F-4F53C27C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0515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B8C2B5"/>
                </a:solidFill>
              </a:defRPr>
            </a:pPr>
            <a:r>
              <a:rPr sz="2850">
                <a:solidFill>
                  <a:srgbClr val="B8C2B5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FB6D5-8F47-4FDF-A948-059A0D20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2076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8C2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CC960-D192-4889-B87D-C1589ACA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47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A31FC2-634B-4A18-9F2D-647FE023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0515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0F0E"/>
                </a:solidFill>
              </a:defRPr>
            </a:pPr>
            <a:r>
              <a:rPr sz="2025" b="1">
                <a:solidFill>
                  <a:srgbClr val="0B0F0E"/>
                </a:solidFill>
              </a:rPr>
              <a:t>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EC6D9-DA5F-41DB-9DD8-6841F104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0045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45F"/>
                </a:solidFill>
              </a:defRPr>
            </a:pPr>
            <a:r>
              <a:rPr sz="1350">
                <a:solidFill>
                  <a:srgbClr val="59645F"/>
                </a:solidFill>
              </a:rPr>
              <a:t>Virtual field, crop growth, soil-water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B871D-BFF8-4909-B4C8-53C040AC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0515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B8C2B5"/>
                </a:solidFill>
              </a:defRPr>
            </a:pPr>
            <a:r>
              <a:rPr sz="2850">
                <a:solidFill>
                  <a:srgbClr val="B8C2B5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06A25A-01D9-4174-875E-88B08ACB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57450"/>
            <a:ext cx="2076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1"/>
          </a:solidFill>
          <a:ln xmlns:a="http://schemas.openxmlformats.org/drawingml/2006/main" w="9525">
            <a:solidFill>
              <a:srgbClr val="B8C2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BD8589-A092-44E9-A0C9-65201739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47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7D4A"/>
                </a:solidFill>
              </a:defRPr>
            </a:pPr>
            <a:r>
              <a:rPr sz="1800" b="1">
                <a:solidFill>
                  <a:srgbClr val="2F7D4A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184C31-DE64-4937-80C6-FB2DB1C8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0515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0F0E"/>
                </a:solidFill>
              </a:defRPr>
            </a:pPr>
            <a:r>
              <a:rPr sz="2025" b="1">
                <a:solidFill>
                  <a:srgbClr val="0B0F0E"/>
                </a:solidFill>
              </a:rPr>
              <a:t>Predict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4155D8-E3B0-49BC-AF3E-9C80E0B9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0045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45F"/>
                </a:solidFill>
              </a:defRPr>
            </a:pPr>
            <a:r>
              <a:rPr sz="1350">
                <a:solidFill>
                  <a:srgbClr val="59645F"/>
                </a:solidFill>
              </a:rPr>
              <a:t>ML risk estimates, yield trends, irrigation need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F489A9-021C-4C44-8C8B-93E2D479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0515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B8C2B5"/>
                </a:solidFill>
              </a:defRPr>
            </a:pPr>
            <a:r>
              <a:rPr sz="2850">
                <a:solidFill>
                  <a:srgbClr val="B8C2B5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B431C2-2C07-4CAF-AF0B-C26022B5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57450"/>
            <a:ext cx="2076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1"/>
          </a:solidFill>
          <a:ln xmlns:a="http://schemas.openxmlformats.org/drawingml/2006/main" w="9525">
            <a:solidFill>
              <a:srgbClr val="B8C2B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F93BE3-FA5F-4745-9AAE-51954E46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47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7D4A"/>
                </a:solidFill>
              </a:defRPr>
            </a:pPr>
            <a:r>
              <a:rPr sz="1800" b="1">
                <a:solidFill>
                  <a:srgbClr val="2F7D4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D7A26A-525E-4CDE-95C4-8EFFF561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0515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0F0E"/>
                </a:solidFill>
              </a:defRPr>
            </a:pPr>
            <a:r>
              <a:rPr sz="2025" b="1">
                <a:solidFill>
                  <a:srgbClr val="0B0F0E"/>
                </a:solidFill>
              </a:rPr>
              <a:t>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D49A18-2488-4444-A23D-9D1E143E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0045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45F"/>
                </a:solidFill>
              </a:defRPr>
            </a:pPr>
            <a:r>
              <a:rPr sz="1350">
                <a:solidFill>
                  <a:srgbClr val="59645F"/>
                </a:solidFill>
              </a:rPr>
              <a:t>Alerts, recommendations, adaptive planning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FBF4A8-8EDC-47A3-B03B-6551B98C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966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B0F0E"/>
                </a:solidFill>
              </a:defRPr>
            </a:pPr>
            <a:r>
              <a:rPr sz="1725">
                <a:solidFill>
                  <a:srgbClr val="0B0F0E"/>
                </a:solidFill>
              </a:rPr>
              <a:t>Digital twin literature emphasizes a feedback loop: the real farm updates the virtual model, and the model improves real-farm decisions.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7C419C-F4B8-475F-9930-C6A5473F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3627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45F"/>
                </a:solidFill>
              </a:defRPr>
            </a:pPr>
            <a:r>
              <a:rPr sz="975">
                <a:solidFill>
                  <a:srgbClr val="59645F"/>
                </a:solidFill>
              </a:rPr>
              <a:t>Agro Twin | 4</a:t>
            </a:r>
          </a:p>
        </p:txBody>
      </p:sp>
    </p:spTree>
    <p:extLst>
      <p:ext uri="{BB962C8B-B14F-4D97-AF65-F5344CB8AC3E}">
        <p14:creationId xmlns:p14="http://schemas.microsoft.com/office/powerpoint/2010/main" val="18103969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CC6190-BE28-417B-A896-06AA9B8A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7D4A"/>
                </a:solidFill>
              </a:defRPr>
            </a:pPr>
            <a:r>
              <a:rPr sz="975" b="1">
                <a:solidFill>
                  <a:srgbClr val="2F7D4A"/>
                </a:solidFill>
              </a:rPr>
              <a:t>LITERATURE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F45E3-7DAA-44F7-B195-6B24DF9E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0F0E"/>
                </a:solidFill>
              </a:defRPr>
            </a:pPr>
            <a:r>
              <a:rPr sz="2775" b="1">
                <a:solidFill>
                  <a:srgbClr val="0B0F0E"/>
                </a:solidFill>
              </a:rPr>
              <a:t>Existing systems solve parts of farm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A25A2-A89E-4110-B395-DA9E96D5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5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>
            <a:solidFill>
              <a:srgbClr val="2F7D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3DCE3-DC8A-4088-83F8-A9B3DF13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105537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4BF3E-1D02-43C3-90B3-95EB8297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7D4A"/>
                </a:solidFill>
              </a:defRPr>
            </a:pPr>
            <a:r>
              <a:rPr sz="1500" b="1">
                <a:solidFill>
                  <a:srgbClr val="2F7D4A"/>
                </a:solidFill>
              </a:rPr>
              <a:t>Approach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43326-F229-4B3A-A2BA-48C32A82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7D4A"/>
                </a:solidFill>
              </a:defRPr>
            </a:pPr>
            <a:r>
              <a:rPr sz="1500" b="1">
                <a:solidFill>
                  <a:srgbClr val="2F7D4A"/>
                </a:solidFill>
              </a:rPr>
              <a:t>Typical 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02483-8425-4429-A5C6-57939D42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66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7D4A"/>
                </a:solidFill>
              </a:defRPr>
            </a:pPr>
            <a:r>
              <a:rPr sz="1500" b="1">
                <a:solidFill>
                  <a:srgbClr val="2F7D4A"/>
                </a:solidFill>
              </a:rPr>
              <a:t>Limitation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03060-43CA-44A5-96B0-BA372A79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B5"/>
          </a:solidFill>
          <a:ln xmlns:a="http://schemas.openxmlformats.org/drawingml/2006/main" w="0">
            <a:solidFill>
              <a:srgbClr val="B8C2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9AEC6-CA06-4645-95F7-584287CB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0F0E"/>
                </a:solidFill>
              </a:defRPr>
            </a:pPr>
            <a:r>
              <a:rPr sz="1425" b="1">
                <a:solidFill>
                  <a:srgbClr val="0B0F0E"/>
                </a:solidFill>
              </a:rPr>
              <a:t>IoT monitoring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593529-5BAA-4318-81D1-A8CC2E0B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241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45F"/>
                </a:solidFill>
              </a:defRPr>
            </a:pPr>
            <a:r>
              <a:rPr sz="1275" b="0">
                <a:solidFill>
                  <a:srgbClr val="59645F"/>
                </a:solidFill>
              </a:rPr>
              <a:t>Soil moisture, temperature, humidity, pH, and field alerts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031904-B242-4F5D-A9B6-1D7FB513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241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45F"/>
                </a:solidFill>
              </a:defRPr>
            </a:pPr>
            <a:r>
              <a:rPr sz="1275" b="0">
                <a:solidFill>
                  <a:srgbClr val="59645F"/>
                </a:solidFill>
              </a:rPr>
              <a:t>Strong for observation; limited without predictive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3F2FBD-6388-4450-8790-C4242D53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B5"/>
          </a:solidFill>
          <a:ln xmlns:a="http://schemas.openxmlformats.org/drawingml/2006/main" w="0">
            <a:solidFill>
              <a:srgbClr val="B8C2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D76DCE-3DD3-49D5-A60E-35814669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0F0E"/>
                </a:solidFill>
              </a:defRPr>
            </a:pPr>
            <a:r>
              <a:rPr sz="1425" b="1">
                <a:solidFill>
                  <a:srgbClr val="0B0F0E"/>
                </a:solidFill>
              </a:rPr>
              <a:t>Remote sensing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1B62F1-0B86-41BC-A884-E7F51856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528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45F"/>
                </a:solidFill>
              </a:defRPr>
            </a:pPr>
            <a:r>
              <a:rPr sz="1275" b="0">
                <a:solidFill>
                  <a:srgbClr val="59645F"/>
                </a:solidFill>
              </a:rPr>
              <a:t>Drone/satellite imagery for crop health and canopy change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DF43A3-CD23-4029-AF3B-203E37E6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45F"/>
                </a:solidFill>
              </a:defRPr>
            </a:pPr>
            <a:r>
              <a:rPr sz="1275" b="0">
                <a:solidFill>
                  <a:srgbClr val="59645F"/>
                </a:solidFill>
              </a:rPr>
              <a:t>Useful at scale; may miss local ground truth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6F43FD-D6E1-44B8-961F-8599107B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B5"/>
          </a:solidFill>
          <a:ln xmlns:a="http://schemas.openxmlformats.org/drawingml/2006/main" w="0">
            <a:solidFill>
              <a:srgbClr val="B8C2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17EC6B-AEF5-49AC-AAC1-9B4E1DF7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814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0F0E"/>
                </a:solidFill>
              </a:defRPr>
            </a:pPr>
            <a:r>
              <a:rPr sz="1425" b="1">
                <a:solidFill>
                  <a:srgbClr val="0B0F0E"/>
                </a:solidFill>
              </a:rPr>
              <a:t>ML prediction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D39F5C-4D75-4970-A3A4-6F869E75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814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45F"/>
                </a:solidFill>
              </a:defRPr>
            </a:pPr>
            <a:r>
              <a:rPr sz="1275" b="0">
                <a:solidFill>
                  <a:srgbClr val="59645F"/>
                </a:solidFill>
              </a:rPr>
              <a:t>Disease detection, yield estimation, irrigation forecasting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518393-9A95-468B-918B-95CCF1D7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814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45F"/>
                </a:solidFill>
              </a:defRPr>
            </a:pPr>
            <a:r>
              <a:rPr sz="1275" b="0">
                <a:solidFill>
                  <a:srgbClr val="59645F"/>
                </a:solidFill>
              </a:rPr>
              <a:t>Often trained for one task rather than whole-farm decisions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C59E87-D4BC-4884-9A4F-32B0C5D4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B5"/>
          </a:solidFill>
          <a:ln xmlns:a="http://schemas.openxmlformats.org/drawingml/2006/main" w="0">
            <a:solidFill>
              <a:srgbClr val="B8C2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B8DE5F-248E-4788-8E1A-D0EB07E7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01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0F0E"/>
                </a:solidFill>
              </a:defRPr>
            </a:pPr>
            <a:r>
              <a:rPr sz="1425" b="1">
                <a:solidFill>
                  <a:srgbClr val="0B0F0E"/>
                </a:solidFill>
              </a:rPr>
              <a:t>Farm dashboards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BC4253-898D-4F1C-A5E5-53C4CECC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101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45F"/>
                </a:solidFill>
              </a:defRPr>
            </a:pPr>
            <a:r>
              <a:rPr sz="1275" b="0">
                <a:solidFill>
                  <a:srgbClr val="59645F"/>
                </a:solidFill>
              </a:rPr>
              <a:t>Visual reports and advisory messages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C8F19D-8293-4E77-A1CC-E8A6D576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101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45F"/>
                </a:solidFill>
              </a:defRPr>
            </a:pPr>
            <a:r>
              <a:rPr sz="1275" b="0">
                <a:solidFill>
                  <a:srgbClr val="59645F"/>
                </a:solidFill>
              </a:rPr>
              <a:t>Readable outputs, but integration and localization vary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B2C538-B6F4-43BA-832B-207C4272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3627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45F"/>
                </a:solidFill>
              </a:defRPr>
            </a:pPr>
            <a:r>
              <a:rPr sz="975">
                <a:solidFill>
                  <a:srgbClr val="59645F"/>
                </a:solidFill>
              </a:rPr>
              <a:t>Agro Twin | 5</a:t>
            </a:r>
          </a:p>
        </p:txBody>
      </p:sp>
    </p:spTree>
    <p:extLst>
      <p:ext uri="{BB962C8B-B14F-4D97-AF65-F5344CB8AC3E}">
        <p14:creationId xmlns:p14="http://schemas.microsoft.com/office/powerpoint/2010/main" val="20266806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ED84C7-9554-413D-8AEE-1E128B87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7D4A"/>
                </a:solidFill>
              </a:defRPr>
            </a:pPr>
            <a:r>
              <a:rPr sz="975" b="1">
                <a:solidFill>
                  <a:srgbClr val="2F7D4A"/>
                </a:solidFill>
              </a:rPr>
              <a:t>LITERATURE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90E42-C478-41D1-9D6D-A1E7AA63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0F0E"/>
                </a:solidFill>
              </a:defRPr>
            </a:pPr>
            <a:r>
              <a:rPr sz="2775" b="1">
                <a:solidFill>
                  <a:srgbClr val="0B0F0E"/>
                </a:solidFill>
              </a:rPr>
              <a:t>Gaps identified: the farm model is still fragmented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DE246-17B1-4D45-AF57-7473572E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5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>
            <a:solidFill>
              <a:srgbClr val="2F7D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5E34B-E4CD-45A1-8F37-23F13506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>
            <a:solidFill>
              <a:srgbClr val="2F7D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45B0F-B279-459F-9467-3A2693BC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71700"/>
            <a:ext cx="944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B0F0E"/>
                </a:solidFill>
              </a:defRPr>
            </a:pPr>
            <a:r>
              <a:rPr sz="1575">
                <a:solidFill>
                  <a:srgbClr val="0B0F0E"/>
                </a:solidFill>
              </a:rPr>
              <a:t>Data silos: sensors, images, weather data, and advisory outputs are often handled separately.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F68C3-4DF0-4274-8FC9-8348B88D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28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>
            <a:solidFill>
              <a:srgbClr val="2F7D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510BF-104C-46C9-BF85-2DDC4845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62250"/>
            <a:ext cx="944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B0F0E"/>
                </a:solidFill>
              </a:defRPr>
            </a:pPr>
            <a:r>
              <a:rPr sz="1575">
                <a:solidFill>
                  <a:srgbClr val="0B0F0E"/>
                </a:solidFill>
              </a:rPr>
              <a:t>Weak real-time synchronization: models may not update quickly enough as field conditions change.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9B84E-AE8A-4CCF-AC8E-60F2D51F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>
            <a:solidFill>
              <a:srgbClr val="2F7D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5F713-DC14-432E-B23D-90856F96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944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B0F0E"/>
                </a:solidFill>
              </a:defRPr>
            </a:pPr>
            <a:r>
              <a:rPr sz="1575">
                <a:solidFill>
                  <a:srgbClr val="0B0F0E"/>
                </a:solidFill>
              </a:rPr>
              <a:t>Limited explainability: many predictions do not clearly tell farmers why an action is recommended.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4BBCB-B2B0-4F78-AA19-0022B6EA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0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>
            <a:solidFill>
              <a:srgbClr val="2F7D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25305-9F58-45EA-9952-8E9EF863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944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B0F0E"/>
                </a:solidFill>
              </a:defRPr>
            </a:pPr>
            <a:r>
              <a:rPr sz="1575">
                <a:solidFill>
                  <a:srgbClr val="0B0F0E"/>
                </a:solidFill>
              </a:rPr>
              <a:t>Scalability barriers: solutions can be expensive, connectivity-dependent, or hard to adapt to small farms.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5608B-E405-4803-BB4E-901C7ADB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00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>
            <a:solidFill>
              <a:srgbClr val="2F7D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B4C281-1532-4C43-AEDC-955196F2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33900"/>
            <a:ext cx="944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B0F0E"/>
                </a:solidFill>
              </a:defRPr>
            </a:pPr>
            <a:r>
              <a:rPr sz="1575">
                <a:solidFill>
                  <a:srgbClr val="0B0F0E"/>
                </a:solidFill>
              </a:rPr>
              <a:t>Local context gaps: soil type, crop variety, language, and farmer practices are not always represented.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AD3FA-9DD4-4D76-ADA1-7DF39239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3627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45F"/>
                </a:solidFill>
              </a:defRPr>
            </a:pPr>
            <a:r>
              <a:rPr sz="975">
                <a:solidFill>
                  <a:srgbClr val="59645F"/>
                </a:solidFill>
              </a:rPr>
              <a:t>Agro Twin | 6</a:t>
            </a:r>
          </a:p>
        </p:txBody>
      </p:sp>
    </p:spTree>
    <p:extLst>
      <p:ext uri="{BB962C8B-B14F-4D97-AF65-F5344CB8AC3E}">
        <p14:creationId xmlns:p14="http://schemas.microsoft.com/office/powerpoint/2010/main" val="10323362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CC4014-9467-4E3C-9349-63BEADF9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7D4A"/>
                </a:solidFill>
              </a:defRPr>
            </a:pPr>
            <a:r>
              <a:rPr sz="975" b="1">
                <a:solidFill>
                  <a:srgbClr val="2F7D4A"/>
                </a:solidFill>
              </a:rPr>
              <a:t>LITERATURE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E6716-90BB-486D-B785-CD1D3A20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0F0E"/>
                </a:solidFill>
              </a:defRPr>
            </a:pPr>
            <a:r>
              <a:rPr sz="2775" b="1">
                <a:solidFill>
                  <a:srgbClr val="0B0F0E"/>
                </a:solidFill>
              </a:rPr>
              <a:t>Proposed system: Agro Twin closes the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904D2-48B8-4A29-888F-E233E10F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5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>
            <a:solidFill>
              <a:srgbClr val="2F7D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31DFC-1833-4469-A52B-DD328B84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2143125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1"/>
          </a:solidFill>
          <a:ln xmlns:a="http://schemas.openxmlformats.org/drawingml/2006/main" w="9525">
            <a:solidFill>
              <a:srgbClr val="B8C2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B00DC-D6DF-4B30-9178-F249C99B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F7D4A"/>
                </a:solidFill>
              </a:defRPr>
            </a:pPr>
            <a:r>
              <a:rPr sz="1725" b="1">
                <a:solidFill>
                  <a:srgbClr val="2F7D4A"/>
                </a:solidFill>
              </a:rPr>
              <a:t>Input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93BE5-C877-413B-BF86-EE3945CE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71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0F0E"/>
                </a:solidFill>
              </a:defRPr>
            </a:pPr>
            <a:r>
              <a:rPr sz="1500">
                <a:solidFill>
                  <a:srgbClr val="0B0F0E"/>
                </a:solidFill>
              </a:rPr>
              <a:t>Sensors</a:t>
            </a:r>
          </a:p>
          <a:p xmlns:a="http://schemas.openxmlformats.org/drawingml/2006/main">
            <a:pPr>
              <a:defRPr sz="1500">
                <a:solidFill>
                  <a:srgbClr val="0B0F0E"/>
                </a:solidFill>
              </a:defRPr>
            </a:pPr>
            <a:r>
              <a:rPr sz="1500">
                <a:solidFill>
                  <a:srgbClr val="0B0F0E"/>
                </a:solidFill>
              </a:rPr>
              <a:t>Weather</a:t>
            </a:r>
          </a:p>
          <a:p xmlns:a="http://schemas.openxmlformats.org/drawingml/2006/main">
            <a:pPr>
              <a:defRPr sz="1500">
                <a:solidFill>
                  <a:srgbClr val="0B0F0E"/>
                </a:solidFill>
              </a:defRPr>
            </a:pPr>
            <a:r>
              <a:rPr sz="1500">
                <a:solidFill>
                  <a:srgbClr val="0B0F0E"/>
                </a:solidFill>
              </a:rPr>
              <a:t>Images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EBA53-713C-4B6B-87C0-C084A7A9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62300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B8C2B5"/>
                </a:solidFill>
              </a:defRPr>
            </a:pPr>
            <a:r>
              <a:rPr sz="3150">
                <a:solidFill>
                  <a:srgbClr val="B8C2B5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2CAABE-F590-4410-92BB-C5316FFB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57450"/>
            <a:ext cx="2143125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8C2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92289-EE71-4962-92BE-237B3B99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86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Twin 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785BD-040F-41DD-9673-915341B4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00400"/>
            <a:ext cx="171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0F0E"/>
                </a:solidFill>
              </a:defRPr>
            </a:pPr>
            <a:r>
              <a:rPr sz="1500">
                <a:solidFill>
                  <a:srgbClr val="0B0F0E"/>
                </a:solidFill>
              </a:rPr>
              <a:t>Field state</a:t>
            </a:r>
          </a:p>
          <a:p xmlns:a="http://schemas.openxmlformats.org/drawingml/2006/main">
            <a:pPr>
              <a:defRPr sz="1500">
                <a:solidFill>
                  <a:srgbClr val="0B0F0E"/>
                </a:solidFill>
              </a:defRPr>
            </a:pPr>
            <a:r>
              <a:rPr sz="1500">
                <a:solidFill>
                  <a:srgbClr val="0B0F0E"/>
                </a:solidFill>
              </a:rPr>
              <a:t>Crop profile</a:t>
            </a:r>
          </a:p>
          <a:p xmlns:a="http://schemas.openxmlformats.org/drawingml/2006/main">
            <a:pPr>
              <a:defRPr sz="1500">
                <a:solidFill>
                  <a:srgbClr val="0B0F0E"/>
                </a:solidFill>
              </a:defRPr>
            </a:pPr>
            <a:r>
              <a:rPr sz="1500">
                <a:solidFill>
                  <a:srgbClr val="0B0F0E"/>
                </a:solidFill>
              </a:rPr>
              <a:t>Soil-water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F9879-67A9-4138-8626-757B4D30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162300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B8C2B5"/>
                </a:solidFill>
              </a:defRPr>
            </a:pPr>
            <a:r>
              <a:rPr sz="3150">
                <a:solidFill>
                  <a:srgbClr val="B8C2B5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33520C-E390-43E7-915D-2E10DB7B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2143125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1"/>
          </a:solidFill>
          <a:ln xmlns:a="http://schemas.openxmlformats.org/drawingml/2006/main" w="9525">
            <a:solidFill>
              <a:srgbClr val="B8C2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8EC17-EEDE-46B0-9F96-426F95C5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86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F7D4A"/>
                </a:solidFill>
              </a:defRPr>
            </a:pPr>
            <a:r>
              <a:rPr sz="1725" b="1">
                <a:solidFill>
                  <a:srgbClr val="2F7D4A"/>
                </a:solidFill>
              </a:rPr>
              <a:t>AI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BD7CAA-64A0-4974-8658-B5CDDEF3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00400"/>
            <a:ext cx="171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0F0E"/>
                </a:solidFill>
              </a:defRPr>
            </a:pPr>
            <a:r>
              <a:rPr sz="1500">
                <a:solidFill>
                  <a:srgbClr val="0B0F0E"/>
                </a:solidFill>
              </a:rPr>
              <a:t>Risk scoring</a:t>
            </a:r>
          </a:p>
          <a:p xmlns:a="http://schemas.openxmlformats.org/drawingml/2006/main">
            <a:pPr>
              <a:defRPr sz="1500">
                <a:solidFill>
                  <a:srgbClr val="0B0F0E"/>
                </a:solidFill>
              </a:defRPr>
            </a:pPr>
            <a:r>
              <a:rPr sz="1500">
                <a:solidFill>
                  <a:srgbClr val="0B0F0E"/>
                </a:solidFill>
              </a:rPr>
              <a:t>Forecasting</a:t>
            </a:r>
          </a:p>
          <a:p xmlns:a="http://schemas.openxmlformats.org/drawingml/2006/main">
            <a:pPr>
              <a:defRPr sz="1500">
                <a:solidFill>
                  <a:srgbClr val="0B0F0E"/>
                </a:solidFill>
              </a:defRPr>
            </a:pPr>
            <a:r>
              <a:rPr sz="1500">
                <a:solidFill>
                  <a:srgbClr val="0B0F0E"/>
                </a:solidFill>
              </a:rPr>
              <a:t>Recommendation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3A4B89-F792-427B-9C81-E6BA30A5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62300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B8C2B5"/>
                </a:solidFill>
              </a:defRPr>
            </a:pPr>
            <a:r>
              <a:rPr sz="3150">
                <a:solidFill>
                  <a:srgbClr val="B8C2B5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57F745-ADAF-40E2-A6AA-995B84A7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57450"/>
            <a:ext cx="2143125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1"/>
          </a:solidFill>
          <a:ln xmlns:a="http://schemas.openxmlformats.org/drawingml/2006/main" w="9525">
            <a:solidFill>
              <a:srgbClr val="B8C2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ABD8BF-AA69-4E90-91FC-DCF50AB4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86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F7D4A"/>
                </a:solidFill>
              </a:defRPr>
            </a:pPr>
            <a:r>
              <a:rPr sz="1725" b="1">
                <a:solidFill>
                  <a:srgbClr val="2F7D4A"/>
                </a:solidFill>
              </a:rPr>
              <a:t>User Layer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FBB4DA-DEEF-4590-975F-BECE81F6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00400"/>
            <a:ext cx="171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0F0E"/>
                </a:solidFill>
              </a:defRPr>
            </a:pPr>
            <a:r>
              <a:rPr sz="1500">
                <a:solidFill>
                  <a:srgbClr val="0B0F0E"/>
                </a:solidFill>
              </a:rPr>
              <a:t>Dashboard</a:t>
            </a:r>
          </a:p>
          <a:p xmlns:a="http://schemas.openxmlformats.org/drawingml/2006/main">
            <a:pPr>
              <a:defRPr sz="1500">
                <a:solidFill>
                  <a:srgbClr val="0B0F0E"/>
                </a:solidFill>
              </a:defRPr>
            </a:pPr>
            <a:r>
              <a:rPr sz="1500">
                <a:solidFill>
                  <a:srgbClr val="0B0F0E"/>
                </a:solidFill>
              </a:rPr>
              <a:t>Alerts</a:t>
            </a:r>
          </a:p>
          <a:p xmlns:a="http://schemas.openxmlformats.org/drawingml/2006/main">
            <a:pPr>
              <a:defRPr sz="1500">
                <a:solidFill>
                  <a:srgbClr val="0B0F0E"/>
                </a:solidFill>
              </a:defRPr>
            </a:pPr>
            <a:r>
              <a:rPr sz="1500">
                <a:solidFill>
                  <a:srgbClr val="0B0F0E"/>
                </a:solidFill>
              </a:rPr>
              <a:t>Action log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4B08BE-F22C-4DD9-896F-0C8696F2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72050"/>
            <a:ext cx="790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87333"/>
                </a:solidFill>
              </a:defRPr>
            </a:pPr>
            <a:r>
              <a:rPr sz="1875" b="1">
                <a:solidFill>
                  <a:srgbClr val="B87333"/>
                </a:solidFill>
              </a:rPr>
              <a:t>Feedback: actual field response updates the next recommendation cycle.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68040D-3656-4F4D-8E30-F16DF02C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3627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45F"/>
                </a:solidFill>
              </a:defRPr>
            </a:pPr>
            <a:r>
              <a:rPr sz="975">
                <a:solidFill>
                  <a:srgbClr val="59645F"/>
                </a:solidFill>
              </a:rPr>
              <a:t>Agro Twin | 7</a:t>
            </a:r>
          </a:p>
        </p:txBody>
      </p:sp>
    </p:spTree>
    <p:extLst>
      <p:ext uri="{BB962C8B-B14F-4D97-AF65-F5344CB8AC3E}">
        <p14:creationId xmlns:p14="http://schemas.microsoft.com/office/powerpoint/2010/main" val="20479192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464D9-375F-4AD7-B9BB-8C13EB65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7D4A"/>
                </a:solidFill>
              </a:defRPr>
            </a:pPr>
            <a:r>
              <a:rPr sz="975" b="1">
                <a:solidFill>
                  <a:srgbClr val="2F7D4A"/>
                </a:solidFill>
              </a:rPr>
              <a:t>LITERATURE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37483-7DA1-40C6-8801-64104A6B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0F0E"/>
                </a:solidFill>
              </a:defRPr>
            </a:pPr>
            <a:r>
              <a:rPr sz="2775" b="1">
                <a:solidFill>
                  <a:srgbClr val="0B0F0E"/>
                </a:solidFill>
              </a:rPr>
              <a:t>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79E10-0DFE-46F2-904A-1E4AD721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5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>
            <a:solidFill>
              <a:srgbClr val="2F7D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A2A3B-7389-4620-BE25-E8AD88A4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0F0E"/>
                </a:solidFill>
              </a:defRPr>
            </a:pPr>
            <a:r>
              <a:rPr sz="1275">
                <a:solidFill>
                  <a:srgbClr val="0B0F0E"/>
                </a:solidFill>
              </a:rPr>
              <a:t>1. Verdouw, C. N., Tekinerdogan, B., Beulens, A., &amp; Wolfert, S. (2021). Digital twins in smart farming. Agricultural Systems, 189, 103046.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A16D0-4C2B-4F34-A74D-A3EBBD0A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0F0E"/>
                </a:solidFill>
              </a:defRPr>
            </a:pPr>
            <a:r>
              <a:rPr sz="1275">
                <a:solidFill>
                  <a:srgbClr val="0B0F0E"/>
                </a:solidFill>
              </a:rPr>
              <a:t>2. Pylianidis, C., Osinga, S., &amp; Athanasiadis, I. N. (2021). Introducing digital twins to agriculture. Computers and Electronics in Agriculture, 184, 105942.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EA231-74D6-4F71-B3FA-EA72CC9C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0F0E"/>
                </a:solidFill>
              </a:defRPr>
            </a:pPr>
            <a:r>
              <a:rPr sz="1275">
                <a:solidFill>
                  <a:srgbClr val="0B0F0E"/>
                </a:solidFill>
              </a:rPr>
              <a:t>3. Wolfert, S., Ge, L., Verdouw, C., &amp; Bogaardt, M.-J. (2017). Big Data in Smart Farming - A review. Agricultural Systems, 153, 69-80.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70A7B-8C91-4FBE-972D-A1F83A85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0F0E"/>
                </a:solidFill>
              </a:defRPr>
            </a:pPr>
            <a:r>
              <a:rPr sz="1275">
                <a:solidFill>
                  <a:srgbClr val="0B0F0E"/>
                </a:solidFill>
              </a:rPr>
              <a:t>4. Liakos, K. G., Busato, P., Moshou, D., Pearson, S., &amp; Bochtis, D. (2018). Machine Learning in Agriculture: A Review. Sensors, 18(8), 2674.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0C88A-7434-490B-8543-8B13CF45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0F0E"/>
                </a:solidFill>
              </a:defRPr>
            </a:pPr>
            <a:r>
              <a:rPr sz="1275">
                <a:solidFill>
                  <a:srgbClr val="0B0F0E"/>
                </a:solidFill>
              </a:rPr>
              <a:t>5. Kamilaris, A., &amp; Prenafeta-Boldu, F. X. (2018). Deep learning in agriculture: A survey. Computers and Electronics in Agriculture, 147, 70-90.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AB67D-E32B-498E-BEA2-78A4720C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0F0E"/>
                </a:solidFill>
              </a:defRPr>
            </a:pPr>
            <a:r>
              <a:rPr sz="1275">
                <a:solidFill>
                  <a:srgbClr val="0B0F0E"/>
                </a:solidFill>
              </a:rPr>
              <a:t>6. Atzori, L., Iera, A., &amp; Morabito, G. (2010). The Internet of Things: A survey. Computer Networks, 54(15), 2787-2805.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343D6A-85BA-4AC7-BFEC-D3DA9C79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3627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45F"/>
                </a:solidFill>
              </a:defRPr>
            </a:pPr>
            <a:r>
              <a:rPr sz="975">
                <a:solidFill>
                  <a:srgbClr val="59645F"/>
                </a:solidFill>
              </a:rPr>
              <a:t>Agro Twin | 8</a:t>
            </a:r>
          </a:p>
        </p:txBody>
      </p:sp>
    </p:spTree>
    <p:extLst>
      <p:ext uri="{BB962C8B-B14F-4D97-AF65-F5344CB8AC3E}">
        <p14:creationId xmlns:p14="http://schemas.microsoft.com/office/powerpoint/2010/main" val="1459101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2026-08-19T09:24:14.3510000Z</dcterms:created>
  <dcterms:modified xsi:type="dcterms:W3CDTF">2026-08-19T09:24:14.3510000Z</dcterms:modified>
</coreProperties>
</file>